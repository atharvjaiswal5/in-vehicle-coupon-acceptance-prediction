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49909ea76e414f" /><Relationship Type="http://schemas.openxmlformats.org/officeDocument/2006/relationships/extended-properties" Target="/docProps/app.xml" Id="R026c9cbd1c9a44ba" /><Relationship Type="http://schemas.openxmlformats.org/officeDocument/2006/relationships/officeDocument" Target="/ppt/presentation.xml" Id="Rf24115b4e29b4d84" /></Relationships>
</file>

<file path=ppt/presentation.xml><?xml version="1.0" encoding="utf-8"?>
<p:presentation xmlns:p="http://schemas.openxmlformats.org/presentationml/2006/main">
  <p:sldMasterIdLst>
    <p:sldMasterId xmlns:r="http://schemas.openxmlformats.org/officeDocument/2006/relationships" id="2147483648" r:id="R4205009a5bca4ed9"/>
  </p:sldMasterIdLst>
  <p:notesMasterIdLst>
    <p:notesMasterId xmlns:r="http://schemas.openxmlformats.org/officeDocument/2006/relationships" r:id="R542de723c93a4523"/>
  </p:notesMasterIdLst>
  <p:sldIdLst>
    <p:sldId xmlns:r="http://schemas.openxmlformats.org/officeDocument/2006/relationships" id="256" r:id="R7ec316b6f9234eaf"/>
    <p:sldId xmlns:r="http://schemas.openxmlformats.org/officeDocument/2006/relationships" id="257" r:id="Ra67dd72cb38e405a"/>
    <p:sldId xmlns:r="http://schemas.openxmlformats.org/officeDocument/2006/relationships" id="258" r:id="R260bea3cda424b75"/>
    <p:sldId xmlns:r="http://schemas.openxmlformats.org/officeDocument/2006/relationships" id="259" r:id="R814534ae597e46a2"/>
    <p:sldId xmlns:r="http://schemas.openxmlformats.org/officeDocument/2006/relationships" id="260" r:id="R29fd5f1de1934006"/>
    <p:sldId xmlns:r="http://schemas.openxmlformats.org/officeDocument/2006/relationships" id="261" r:id="R0adf5a44f17a459f"/>
    <p:sldId xmlns:r="http://schemas.openxmlformats.org/officeDocument/2006/relationships" id="262" r:id="R46f3deda6dcf43df"/>
    <p:sldId xmlns:r="http://schemas.openxmlformats.org/officeDocument/2006/relationships" id="263" r:id="Ra05124b37d054f0a"/>
    <p:sldId xmlns:r="http://schemas.openxmlformats.org/officeDocument/2006/relationships" id="264" r:id="R3dbb927f152b4e7c"/>
    <p:sldId xmlns:r="http://schemas.openxmlformats.org/officeDocument/2006/relationships" id="265" r:id="R0fba2ccb25ae4784"/>
    <p:sldId xmlns:r="http://schemas.openxmlformats.org/officeDocument/2006/relationships" id="266" r:id="Red775e269a614340"/>
    <p:sldId xmlns:r="http://schemas.openxmlformats.org/officeDocument/2006/relationships" id="267" r:id="R7d4985d4d43949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afc6ee2c724dea" /><Relationship Type="http://schemas.openxmlformats.org/officeDocument/2006/relationships/slideMaster" Target="/ppt/slideMasters/slideMaster1.xml" Id="R4205009a5bca4ed9" /><Relationship Type="http://schemas.openxmlformats.org/officeDocument/2006/relationships/notesMaster" Target="/ppt/notesMasters/notesMaster1.xml" Id="R542de723c93a4523" /><Relationship Type="http://schemas.openxmlformats.org/officeDocument/2006/relationships/presProps" Target="/ppt/presProps.xml" Id="Rb1d222c17d424f2e" /><Relationship Type="http://schemas.openxmlformats.org/officeDocument/2006/relationships/tableStyles" Target="/ppt/tableStyles.xml" Id="Rbaaf952c15d34998" /><Relationship Type="http://schemas.openxmlformats.org/officeDocument/2006/relationships/slide" Target="/ppt/slides/slide1.xml" Id="R7ec316b6f9234eaf" /><Relationship Type="http://schemas.openxmlformats.org/officeDocument/2006/relationships/slide" Target="/ppt/slides/slide2.xml" Id="Ra67dd72cb38e405a" /><Relationship Type="http://schemas.openxmlformats.org/officeDocument/2006/relationships/slide" Target="/ppt/slides/slide3.xml" Id="R260bea3cda424b75" /><Relationship Type="http://schemas.openxmlformats.org/officeDocument/2006/relationships/slide" Target="/ppt/slides/slide4.xml" Id="R814534ae597e46a2" /><Relationship Type="http://schemas.openxmlformats.org/officeDocument/2006/relationships/slide" Target="/ppt/slides/slide5.xml" Id="R29fd5f1de1934006" /><Relationship Type="http://schemas.openxmlformats.org/officeDocument/2006/relationships/slide" Target="/ppt/slides/slide6.xml" Id="R0adf5a44f17a459f" /><Relationship Type="http://schemas.openxmlformats.org/officeDocument/2006/relationships/slide" Target="/ppt/slides/slide7.xml" Id="R46f3deda6dcf43df" /><Relationship Type="http://schemas.openxmlformats.org/officeDocument/2006/relationships/slide" Target="/ppt/slides/slide8.xml" Id="Ra05124b37d054f0a" /><Relationship Type="http://schemas.openxmlformats.org/officeDocument/2006/relationships/slide" Target="/ppt/slides/slide9.xml" Id="R3dbb927f152b4e7c" /><Relationship Type="http://schemas.openxmlformats.org/officeDocument/2006/relationships/slide" Target="/ppt/slides/slide10.xml" Id="R0fba2ccb25ae4784" /><Relationship Type="http://schemas.openxmlformats.org/officeDocument/2006/relationships/slide" Target="/ppt/slides/slide11.xml" Id="Red775e269a614340" /><Relationship Type="http://schemas.openxmlformats.org/officeDocument/2006/relationships/slide" Target="/ppt/slides/slide12.xml" Id="R7d4985d4d43949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c494601d0b4d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7d81e300804a70" /><Relationship Type="http://schemas.openxmlformats.org/officeDocument/2006/relationships/notesMaster" Target="/ppt/notesMasters/notesMaster1.xml" Id="Rc4547026bdfc48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84c950092c4b9c" /><Relationship Type="http://schemas.openxmlformats.org/officeDocument/2006/relationships/notesMaster" Target="/ppt/notesMasters/notesMaster1.xml" Id="R6909b930db784a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06909403e34153" /><Relationship Type="http://schemas.openxmlformats.org/officeDocument/2006/relationships/notesMaster" Target="/ppt/notesMasters/notesMaster1.xml" Id="Rb8542eca67b145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76d95b800f4353" /><Relationship Type="http://schemas.openxmlformats.org/officeDocument/2006/relationships/notesMaster" Target="/ppt/notesMasters/notesMaster1.xml" Id="R491fc6910f8446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6e88310fb8441e" /><Relationship Type="http://schemas.openxmlformats.org/officeDocument/2006/relationships/notesMaster" Target="/ppt/notesMasters/notesMaster1.xml" Id="R80e5e89ce64349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8bf141af4443d3" /><Relationship Type="http://schemas.openxmlformats.org/officeDocument/2006/relationships/notesMaster" Target="/ppt/notesMasters/notesMaster1.xml" Id="Rfcf64fd72e354a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5018323ed9460e" /><Relationship Type="http://schemas.openxmlformats.org/officeDocument/2006/relationships/notesMaster" Target="/ppt/notesMasters/notesMaster1.xml" Id="R7ee1925f440e4a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8f17cb3d4941af" /><Relationship Type="http://schemas.openxmlformats.org/officeDocument/2006/relationships/notesMaster" Target="/ppt/notesMasters/notesMaster1.xml" Id="R4632f42b317e47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174e4e0ec44a2b" /><Relationship Type="http://schemas.openxmlformats.org/officeDocument/2006/relationships/notesMaster" Target="/ppt/notesMasters/notesMaster1.xml" Id="R7b2090abdb724e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e19015acae4eb3" /><Relationship Type="http://schemas.openxmlformats.org/officeDocument/2006/relationships/notesMaster" Target="/ppt/notesMasters/notesMaster1.xml" Id="Rff36082c90e847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dda3d6adc342fa" /><Relationship Type="http://schemas.openxmlformats.org/officeDocument/2006/relationships/notesMaster" Target="/ppt/notesMasters/notesMaster1.xml" Id="R2426ce533fab47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ea04b5ea8b4237" /><Relationship Type="http://schemas.openxmlformats.org/officeDocument/2006/relationships/notesMaster" Target="/ppt/notesMasters/notesMaster1.xml" Id="Ra657da42f2244f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present our CA3 project on predicting stated acceptance of in-vehicle coupons. The prediction target comes from a hypothetical survey response. It does not record whether a person later used a coupon. I followed the KDD process from data selection through evaluation and interpretation. My name is Atharv Deepak Jaiswal, PRN 23070521023. Dataset source: UCI In-Vehicle Coupon Recommendation, DOI 10.24432/C5GS4P.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whether contextual and respondent information predicts an accept or reject response. Inputs include the destination, coupon type, expiry, trip conditions, and respondent characteristics. The target Y equals one for stated acceptance and zero for rejection. This is binary classification. A useful model may help researchers study offer relevance, but real deployment would need fresh data on actual behaviour.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UCI dataset contains 12,684 survey scenarios and 25 input features. About 56.8 percent of responses are positive. The class balance matters because a model that predicts acceptance for everyone would already get roughly 56.8 percent accuracy. The official dataset is licensed CC BY 4.0. Citation: UCI In-Vehicle Coupon Recommendation, DOI 10.24432/C5GS4P.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KDD means Knowledge Discovery in Databases. I selected the survey fields and target, audited the data, prepared a leak-resistant split, transformed features, trained models, and interpreted predictions. Preprocessing occurs within the training pipeline so the test data cannot influence imputation or encoding. This workflow follows the conceptual KDD stages in Fayyad, Piatetsky-Shapiro, and Smyth, 1996, AI Magazine, DOI 10.1609/aimag.v17i3.1230.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audit found 74 exact duplicate rows. The car column has more than 90 percent missing values, and toCoupon_GEQ5min is constant in training, so both were removed. The project uses 10,148 training rows and 2,536 test rows. I grouped identical predictor profiles, leaving zero groups shared between partitions. Because the dataset has no respondent IDs, this does not prove that different people are independent.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bars show training-set acceptance rates for five coupon categories. Carry-out offers reached 73.9 percent stated acceptance, while bar offers reached 41.0 percent. Restaurant offers under 20 dollars were also relatively high at 70.1 percent. These differences justify including coupon type as a predictor. They are descriptive survey associations, so I cannot infer that changing coupon type alone would cause the same increase. Source: project training_coupon_rates.csv derived from UCI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fills missing categorical values with a label and uses one-hot encoding. It treats age, income, and visit-frequency bands as categories. Numeric values receive median imputation and scaling where useful. I used five grouped cross-validation folds on the training data and left the test partition untouched until choosing the model. This design reduces data leakage and gives a more credible estimate than scoring on training rows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compared four choices. The majority baseline always predicts the most common class, acceptance. Logistic Regression gives a simple linear reference. A Decision Tree can capture conditional rules, and a Random Forest averages many trees. I selected by average cross-validation F1 for the acceptance class, using ROC-AUC only if there was a tie. The decision threshold stayed at 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Random Forest has the highest mean five-fold F1 at 79.1 percent. The other values are 74.2 percent for the Decision Tree, 73.4 percent for Logistic Regression, and 72.5 percent for the majority baseline. Random Forest was selected before opening the test results. Its mean cross-validation ROC-AUC was 0.818. These bars show validation performance, not final test performance. Source: the executed notebook and results/model_comparison.csv.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2,536 held-out rows, Random Forest achieved 76.7 percent accuracy and 80.6 percent F1. Precision was 76.4 percent, recall was 85.4 percent, and ROC-AUC was 83.7 percent. In the confusion matrix it correctly identified 1,231 acceptances and 713 rejections. It missed 211 actual acceptances and incorrectly predicted 381 acceptances. The model improves F1 over the majority baseline, which reached 72.5 percent on this test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Permutation importance found coupon type most influential for predictive F1, followed by the CoffeeHouse visit frequency, coupon expiration, and Bar visit frequency. These are model associations, not causal effects. The Random Forest scored 96.3 percent F1 on training rows but 79.1 percent across validation folds, suggesting overfitting. More conservative tuning and external testing may improve trust. The survey lacks respondent IDs and actual redemption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shows that context and coupon information predict survey answers better than the majority baseline. The conclusion is limited to stated acceptance in this dataset. Before real marketing use, I would collect fresh responses, preferably actual redemption outcomes, test across time and customers, and review the effects of demographic variables. References: UCI dataset DOI 10.24432/C5GS4P; Wang et al., 2017, Journal of Machine Learning Research 18(70), 1–37; Fayyad et al., 1996, AI Magazine 17(3), 37–54.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3a15efe8424e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84ac2f851e4ac2" /><Relationship Type="http://schemas.openxmlformats.org/officeDocument/2006/relationships/slideLayout" Target="/ppt/slideLayouts/slideLayout1.xml" Id="Recf455fc7df847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f455fc7df847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cb634995374eb8" /><Relationship Type="http://schemas.openxmlformats.org/officeDocument/2006/relationships/notesSlide" Target="/ppt/notesSlides/notesSlide1.xml" Id="Rcb72c6d321854d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280a606c56481b" /><Relationship Type="http://schemas.openxmlformats.org/officeDocument/2006/relationships/notesSlide" Target="/ppt/notesSlides/notesSlide2.xml" Id="R0f0a082c39104b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8fa0f2d9224b16" /><Relationship Type="http://schemas.openxmlformats.org/officeDocument/2006/relationships/notesSlide" Target="/ppt/notesSlides/notesSlide3.xml" Id="R71cf58ac17ea4c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87c21d92c64de4" /><Relationship Type="http://schemas.openxmlformats.org/officeDocument/2006/relationships/notesSlide" Target="/ppt/notesSlides/notesSlide4.xml" Id="Re23ac5810eb04a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a46d3346064475" /><Relationship Type="http://schemas.openxmlformats.org/officeDocument/2006/relationships/notesSlide" Target="/ppt/notesSlides/notesSlide5.xml" Id="Ra2a3eca25df441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26e83e3f2d4325" /><Relationship Type="http://schemas.openxmlformats.org/officeDocument/2006/relationships/chart" Target="/ppt/slides/charts/chart1.xml" Id="Rcff296399f3641a2" /><Relationship Type="http://schemas.openxmlformats.org/officeDocument/2006/relationships/notesSlide" Target="/ppt/notesSlides/notesSlide6.xml" Id="R4eec19eb7ea54a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5d9f5f54b248cf" /><Relationship Type="http://schemas.openxmlformats.org/officeDocument/2006/relationships/notesSlide" Target="/ppt/notesSlides/notesSlide7.xml" Id="Reb0811dc66b747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34e7e9cdef444b" /><Relationship Type="http://schemas.openxmlformats.org/officeDocument/2006/relationships/notesSlide" Target="/ppt/notesSlides/notesSlide8.xml" Id="R1d08adf78b0543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34785d288c423c" /><Relationship Type="http://schemas.openxmlformats.org/officeDocument/2006/relationships/chart" Target="/ppt/slides/charts/chart2.xml" Id="Rdf6b98fec8644696" /><Relationship Type="http://schemas.openxmlformats.org/officeDocument/2006/relationships/notesSlide" Target="/ppt/notesSlides/notesSlide9.xml" Id="R8b68b855e6134e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c5e8bba191c4f1f" /><Relationship Type="http://schemas.openxmlformats.org/officeDocument/2006/relationships/notesSlide" Target="/ppt/notesSlides/notesSlide10.xml" Id="Rf256deb0ab9340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3aa6ae13ff4de9" /><Relationship Type="http://schemas.openxmlformats.org/officeDocument/2006/relationships/notesSlide" Target="/ppt/notesSlides/notesSlide11.xml" Id="R37536406b5924a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f032ba861b8469b" /><Relationship Type="http://schemas.openxmlformats.org/officeDocument/2006/relationships/notesSlide" Target="/ppt/notesSlides/notesSlide12.xml" Id="Rfd4f57c24983487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Stated acceptance (%)</c:v>
          </c:tx>
          <c:spPr>
            <a:solidFill xmlns:a="http://schemas.openxmlformats.org/drawingml/2006/main">
              <a:srgbClr val="007B79"/>
            </a:solidFill>
          </c:spPr>
          <c:cat>
            <c:strRef>
              <c:f>'Chart Data'!$A$2:$A$6</c:f>
              <c:strCache>
                <c:ptCount val="5"/>
                <c:pt idx="0">
                  <c:v>Bar</c:v>
                </c:pt>
                <c:pt idx="1">
                  <c:v>Restaurant(20-50)</c:v>
                </c:pt>
                <c:pt idx="2">
                  <c:v>Coffee House</c:v>
                </c:pt>
                <c:pt idx="3">
                  <c:v>Restaurant(&lt;20)</c:v>
                </c:pt>
                <c:pt idx="4">
                  <c:v>Carry out &amp; Take away</c:v>
                </c:pt>
              </c:strCache>
            </c:strRef>
          </c:cat>
          <c:val>
            <c:numRef>
              <c:f>'Chart Data'!$B$2:$B$6</c:f>
              <c:numCache>
                <c:formatCode>0.0</c:formatCode>
                <c:ptCount val="5"/>
                <c:pt idx="0">
                  <c:v>41</c:v>
                </c:pt>
                <c:pt idx="1">
                  <c:v>44.6</c:v>
                </c:pt>
                <c:pt idx="2">
                  <c:v>50.1</c:v>
                </c:pt>
                <c:pt idx="3">
                  <c:v>70.1</c:v>
                </c:pt>
                <c:pt idx="4">
                  <c:v>73.9</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42A3B"/>
                  </a:solidFill>
                  <a:latin typeface="Arial"/>
                  <a:ea typeface="Arial"/>
                  <a:cs typeface="Aria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3345"/>
                </a:solidFill>
                <a:latin typeface="Arial"/>
                <a:ea typeface="Arial"/>
                <a:cs typeface="Arial"/>
              </a:defRPr>
            </a:pPr>
          </a:p>
        </c:txPr>
        <c:crossAx val="48672768"/>
      </c:catAx>
      <c:valAx>
        <c:axId val="48672768"/>
        <c:scaling>
          <c:orientation val="minMax"/>
          <c:max val="1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93345"/>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CV F1 (%)</c:v>
          </c:tx>
          <c:spPr>
            <a:solidFill xmlns:a="http://schemas.openxmlformats.org/drawingml/2006/main">
              <a:srgbClr val="007B79"/>
            </a:solidFill>
          </c:spPr>
          <c:cat>
            <c:strRef>
              <c:f>'Chart Data'!$A$2:$A$5</c:f>
              <c:strCache>
                <c:ptCount val="4"/>
                <c:pt idx="0">
                  <c:v>Majority baseline</c:v>
                </c:pt>
                <c:pt idx="1">
                  <c:v>Logistic Regression</c:v>
                </c:pt>
                <c:pt idx="2">
                  <c:v>Decision Tree</c:v>
                </c:pt>
                <c:pt idx="3">
                  <c:v>Random Forest</c:v>
                </c:pt>
              </c:strCache>
            </c:strRef>
          </c:cat>
          <c:val>
            <c:numRef>
              <c:f>'Chart Data'!$B$2:$B$5</c:f>
              <c:numCache>
                <c:formatCode>0.0</c:formatCode>
                <c:ptCount val="4"/>
                <c:pt idx="0">
                  <c:v>72.5</c:v>
                </c:pt>
                <c:pt idx="1">
                  <c:v>73.4</c:v>
                </c:pt>
                <c:pt idx="2">
                  <c:v>74.2</c:v>
                </c:pt>
                <c:pt idx="3">
                  <c:v>79.1</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42A3B"/>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93345"/>
                </a:solidFill>
                <a:latin typeface="Arial"/>
                <a:ea typeface="Arial"/>
                <a:cs typeface="Arial"/>
              </a:defRPr>
            </a:pPr>
          </a:p>
        </c:txPr>
        <c:crossAx val="48672768"/>
      </c:catAx>
      <c:valAx>
        <c:axId val="48672768"/>
        <c:scaling>
          <c:orientation val="minMax"/>
          <c:max val="1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3345"/>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A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81CFB8-DC61-4EC1-9638-B8F1EE0314F8}"/>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BFE8E0"/>
                </a:solidFill>
                <a:latin typeface="Arial"/>
                <a:ea typeface="Arial"/>
                <a:cs typeface="Arial"/>
              </a:defRPr>
            </a:pPr>
            <a:r>
              <a:rPr sz="1125" b="0">
                <a:solidFill>
                  <a:srgbClr val="BFE8E0"/>
                </a:solidFill>
                <a:latin typeface="Arial"/>
                <a:ea typeface="Arial"/>
                <a:cs typeface="Arial"/>
              </a:rPr>
              <a:t>1 / 12</a:t>
            </a:r>
          </a:p>
        </p:txBody>
      </p:sp>
      <p:sp>
        <p:nvSpPr>
          <p:cNvPr id="2" name="">
            <a:extLst xmlns:a="http://schemas.openxmlformats.org/drawingml/2006/main">
              <a:ext uri="{FF2B5EF4-FFF2-40B4-BE49-F238E27FC236}">
                <a16:creationId xmlns:a16="http://schemas.microsoft.com/office/drawing/2014/main" id="{0D080CB6-A547-4FFF-9BA4-1DBD59EE8636}"/>
              </a:ext>
            </a:extLst>
          </p:cNvPr>
          <p:cNvSpPr>
            <a:spLocks xmlns:a="http://schemas.openxmlformats.org/drawingml/2006/main" noGrp="1"/>
          </p:cNvSpPr>
          <p:nvPr/>
        </p:nvSpPr>
        <p:spPr>
          <a:xfrm xmlns:a="http://schemas.openxmlformats.org/drawingml/2006/main">
            <a:off x="685800" y="1571625"/>
            <a:ext cx="1028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025" b="1">
                <a:solidFill>
                  <a:srgbClr val="FFFFFF"/>
                </a:solidFill>
                <a:latin typeface="Arial"/>
                <a:ea typeface="Arial"/>
                <a:cs typeface="Arial"/>
              </a:defRPr>
            </a:pPr>
            <a:r>
              <a:rPr sz="5025" b="1">
                <a:solidFill>
                  <a:srgbClr val="FFFFFF"/>
                </a:solidFill>
                <a:latin typeface="Arial"/>
                <a:ea typeface="Arial"/>
                <a:cs typeface="Arial"/>
              </a:rPr>
              <a:t>Predicting in-vehicle</a:t>
            </a:r>
          </a:p>
          <a:p xmlns:a="http://schemas.openxmlformats.org/drawingml/2006/main">
            <a:pPr algn="l">
              <a:defRPr sz="5025" b="1">
                <a:solidFill>
                  <a:srgbClr val="FFFFFF"/>
                </a:solidFill>
                <a:latin typeface="Arial"/>
                <a:ea typeface="Arial"/>
                <a:cs typeface="Arial"/>
              </a:defRPr>
            </a:pPr>
            <a:r>
              <a:rPr sz="5025" b="1">
                <a:solidFill>
                  <a:srgbClr val="FFFFFF"/>
                </a:solidFill>
                <a:latin typeface="Arial"/>
                <a:ea typeface="Arial"/>
                <a:cs typeface="Arial"/>
              </a:rPr>
              <a:t>coupon acceptance</a:t>
            </a:r>
          </a:p>
        </p:txBody>
      </p:sp>
      <p:sp>
        <p:nvSpPr>
          <p:cNvPr id="3" name="">
            <a:extLst xmlns:a="http://schemas.openxmlformats.org/drawingml/2006/main">
              <a:ext uri="{FF2B5EF4-FFF2-40B4-BE49-F238E27FC236}">
                <a16:creationId xmlns:a16="http://schemas.microsoft.com/office/drawing/2014/main" id="{61A67333-358E-41F2-94B2-01E24954ABC8}"/>
              </a:ext>
            </a:extLst>
          </p:cNvPr>
          <p:cNvSpPr>
            <a:spLocks xmlns:a="http://schemas.openxmlformats.org/drawingml/2006/main" noGrp="1"/>
          </p:cNvSpPr>
          <p:nvPr/>
        </p:nvSpPr>
        <p:spPr>
          <a:xfrm xmlns:a="http://schemas.openxmlformats.org/drawingml/2006/main">
            <a:off x="723900" y="3800475"/>
            <a:ext cx="914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BFE8E0"/>
                </a:solidFill>
                <a:latin typeface="Arial"/>
                <a:ea typeface="Arial"/>
                <a:cs typeface="Arial"/>
              </a:defRPr>
            </a:pPr>
            <a:r>
              <a:rPr sz="2100" b="0">
                <a:solidFill>
                  <a:srgbClr val="BFE8E0"/>
                </a:solidFill>
                <a:latin typeface="Arial"/>
                <a:ea typeface="Arial"/>
                <a:cs typeface="Arial"/>
              </a:rPr>
              <a:t>A KDD and machine learning project</a:t>
            </a:r>
          </a:p>
        </p:txBody>
      </p:sp>
      <p:sp>
        <p:nvSpPr>
          <p:cNvPr id="4" name="">
            <a:extLst xmlns:a="http://schemas.openxmlformats.org/drawingml/2006/main">
              <a:ext uri="{FF2B5EF4-FFF2-40B4-BE49-F238E27FC236}">
                <a16:creationId xmlns:a16="http://schemas.microsoft.com/office/drawing/2014/main" id="{F42AED3A-49D0-45EA-AB22-760B76184D24}"/>
              </a:ext>
            </a:extLst>
          </p:cNvPr>
          <p:cNvSpPr>
            <a:spLocks xmlns:a="http://schemas.openxmlformats.org/drawingml/2006/main" noGrp="1"/>
          </p:cNvSpPr>
          <p:nvPr/>
        </p:nvSpPr>
        <p:spPr>
          <a:xfrm xmlns:a="http://schemas.openxmlformats.org/drawingml/2006/main">
            <a:off x="723900" y="52673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Atharv Deepak Jaiswal  ·  PRN 23070521023</a:t>
            </a:r>
          </a:p>
        </p:txBody>
      </p:sp>
    </p:spTree>
    <p:extLst>
      <p:ext uri="{BB962C8B-B14F-4D97-AF65-F5344CB8AC3E}">
        <p14:creationId xmlns:p14="http://schemas.microsoft.com/office/powerpoint/2010/main" val="18911401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9BEAAD3-C89E-4DC6-BBE2-0E2B1AE119FB}"/>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The prediction question</a:t>
            </a:r>
          </a:p>
        </p:txBody>
      </p:sp>
      <p:sp>
        <p:nvSpPr>
          <p:cNvPr id="2" name="">
            <a:extLst xmlns:a="http://schemas.openxmlformats.org/drawingml/2006/main">
              <a:ext uri="{FF2B5EF4-FFF2-40B4-BE49-F238E27FC236}">
                <a16:creationId xmlns:a16="http://schemas.microsoft.com/office/drawing/2014/main" id="{E840C2CF-3629-4ADC-BED9-667908DD2AB6}"/>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2 / 12</a:t>
            </a:r>
          </a:p>
        </p:txBody>
      </p:sp>
      <p:sp>
        <p:nvSpPr>
          <p:cNvPr id="3" name="">
            <a:extLst xmlns:a="http://schemas.openxmlformats.org/drawingml/2006/main">
              <a:ext uri="{FF2B5EF4-FFF2-40B4-BE49-F238E27FC236}">
                <a16:creationId xmlns:a16="http://schemas.microsoft.com/office/drawing/2014/main" id="{4D078246-A05E-49D2-BCD6-2B0D806D44AA}"/>
              </a:ext>
            </a:extLst>
          </p:cNvPr>
          <p:cNvSpPr>
            <a:spLocks xmlns:a="http://schemas.openxmlformats.org/drawingml/2006/main" noGrp="1"/>
          </p:cNvSpPr>
          <p:nvPr/>
        </p:nvSpPr>
        <p:spPr>
          <a:xfrm xmlns:a="http://schemas.openxmlformats.org/drawingml/2006/main">
            <a:off x="781050" y="1762125"/>
            <a:ext cx="83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007B79"/>
                </a:solidFill>
                <a:latin typeface="Arial"/>
                <a:ea typeface="Arial"/>
                <a:cs typeface="Arial"/>
              </a:defRPr>
            </a:pPr>
            <a:r>
              <a:rPr sz="3300" b="1">
                <a:solidFill>
                  <a:srgbClr val="007B7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EF6710A-FF1E-4441-A980-6B1C03C1A2C1}"/>
              </a:ext>
            </a:extLst>
          </p:cNvPr>
          <p:cNvSpPr>
            <a:spLocks xmlns:a="http://schemas.openxmlformats.org/drawingml/2006/main" noGrp="1"/>
          </p:cNvSpPr>
          <p:nvPr/>
        </p:nvSpPr>
        <p:spPr>
          <a:xfrm xmlns:a="http://schemas.openxmlformats.org/drawingml/2006/main">
            <a:off x="1762125" y="1762125"/>
            <a:ext cx="947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42A3B"/>
                </a:solidFill>
                <a:latin typeface="Arial"/>
                <a:ea typeface="Arial"/>
                <a:cs typeface="Arial"/>
              </a:defRPr>
            </a:pPr>
            <a:r>
              <a:rPr sz="2175" b="1">
                <a:solidFill>
                  <a:srgbClr val="142A3B"/>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B999837E-5C90-4094-A4ED-6A956D16E7DE}"/>
              </a:ext>
            </a:extLst>
          </p:cNvPr>
          <p:cNvSpPr>
            <a:spLocks xmlns:a="http://schemas.openxmlformats.org/drawingml/2006/main" noGrp="1"/>
          </p:cNvSpPr>
          <p:nvPr/>
        </p:nvSpPr>
        <p:spPr>
          <a:xfrm xmlns:a="http://schemas.openxmlformats.org/drawingml/2006/main">
            <a:off x="1762125" y="2219325"/>
            <a:ext cx="9477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93345"/>
                </a:solidFill>
                <a:latin typeface="Arial"/>
                <a:ea typeface="Arial"/>
                <a:cs typeface="Arial"/>
              </a:defRPr>
            </a:pPr>
            <a:r>
              <a:rPr sz="1650" b="0">
                <a:solidFill>
                  <a:srgbClr val="193345"/>
                </a:solidFill>
                <a:latin typeface="Arial"/>
                <a:ea typeface="Arial"/>
                <a:cs typeface="Arial"/>
              </a:rPr>
              <a:t>Driving context, coupon details and respondent characteristics</a:t>
            </a:r>
          </a:p>
        </p:txBody>
      </p:sp>
      <p:sp>
        <p:nvSpPr>
          <p:cNvPr id="6" name="">
            <a:extLst xmlns:a="http://schemas.openxmlformats.org/drawingml/2006/main">
              <a:ext uri="{FF2B5EF4-FFF2-40B4-BE49-F238E27FC236}">
                <a16:creationId xmlns:a16="http://schemas.microsoft.com/office/drawing/2014/main" id="{CD152E56-11AC-442B-8BBA-3EF332B8316C}"/>
              </a:ext>
            </a:extLst>
          </p:cNvPr>
          <p:cNvSpPr>
            <a:spLocks xmlns:a="http://schemas.openxmlformats.org/drawingml/2006/main" noGrp="1"/>
          </p:cNvSpPr>
          <p:nvPr/>
        </p:nvSpPr>
        <p:spPr>
          <a:xfrm xmlns:a="http://schemas.openxmlformats.org/drawingml/2006/main">
            <a:off x="781050" y="3286125"/>
            <a:ext cx="83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007B79"/>
                </a:solidFill>
                <a:latin typeface="Arial"/>
                <a:ea typeface="Arial"/>
                <a:cs typeface="Arial"/>
              </a:defRPr>
            </a:pPr>
            <a:r>
              <a:rPr sz="3300" b="1">
                <a:solidFill>
                  <a:srgbClr val="007B79"/>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DBE53C3-761C-4DAD-A16D-63C7277AABCA}"/>
              </a:ext>
            </a:extLst>
          </p:cNvPr>
          <p:cNvSpPr>
            <a:spLocks xmlns:a="http://schemas.openxmlformats.org/drawingml/2006/main" noGrp="1"/>
          </p:cNvSpPr>
          <p:nvPr/>
        </p:nvSpPr>
        <p:spPr>
          <a:xfrm xmlns:a="http://schemas.openxmlformats.org/drawingml/2006/main">
            <a:off x="1762125" y="3286125"/>
            <a:ext cx="947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42A3B"/>
                </a:solidFill>
                <a:latin typeface="Arial"/>
                <a:ea typeface="Arial"/>
                <a:cs typeface="Arial"/>
              </a:defRPr>
            </a:pPr>
            <a:r>
              <a:rPr sz="2175" b="1">
                <a:solidFill>
                  <a:srgbClr val="142A3B"/>
                </a:solidFill>
                <a:latin typeface="Arial"/>
                <a:ea typeface="Arial"/>
                <a:cs typeface="Arial"/>
              </a:rPr>
              <a:t>Target</a:t>
            </a:r>
          </a:p>
        </p:txBody>
      </p:sp>
      <p:sp>
        <p:nvSpPr>
          <p:cNvPr id="8" name="">
            <a:extLst xmlns:a="http://schemas.openxmlformats.org/drawingml/2006/main">
              <a:ext uri="{FF2B5EF4-FFF2-40B4-BE49-F238E27FC236}">
                <a16:creationId xmlns:a16="http://schemas.microsoft.com/office/drawing/2014/main" id="{37AB8BF0-A8C8-4A16-80F3-94E1F2956184}"/>
              </a:ext>
            </a:extLst>
          </p:cNvPr>
          <p:cNvSpPr>
            <a:spLocks xmlns:a="http://schemas.openxmlformats.org/drawingml/2006/main" noGrp="1"/>
          </p:cNvSpPr>
          <p:nvPr/>
        </p:nvSpPr>
        <p:spPr>
          <a:xfrm xmlns:a="http://schemas.openxmlformats.org/drawingml/2006/main">
            <a:off x="1762125" y="3743325"/>
            <a:ext cx="9477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93345"/>
                </a:solidFill>
                <a:latin typeface="Arial"/>
                <a:ea typeface="Arial"/>
                <a:cs typeface="Arial"/>
              </a:defRPr>
            </a:pPr>
            <a:r>
              <a:rPr sz="1650" b="0">
                <a:solidFill>
                  <a:srgbClr val="193345"/>
                </a:solidFill>
                <a:latin typeface="Arial"/>
                <a:ea typeface="Arial"/>
                <a:cs typeface="Arial"/>
              </a:rPr>
              <a:t>Y = 1 for stated acceptance, Y = 0 for stated rejection</a:t>
            </a:r>
          </a:p>
        </p:txBody>
      </p:sp>
      <p:sp>
        <p:nvSpPr>
          <p:cNvPr id="9" name="">
            <a:extLst xmlns:a="http://schemas.openxmlformats.org/drawingml/2006/main">
              <a:ext uri="{FF2B5EF4-FFF2-40B4-BE49-F238E27FC236}">
                <a16:creationId xmlns:a16="http://schemas.microsoft.com/office/drawing/2014/main" id="{F297C89D-66C1-4AB6-8BD6-ACF6956FAD4D}"/>
              </a:ext>
            </a:extLst>
          </p:cNvPr>
          <p:cNvSpPr>
            <a:spLocks xmlns:a="http://schemas.openxmlformats.org/drawingml/2006/main" noGrp="1"/>
          </p:cNvSpPr>
          <p:nvPr/>
        </p:nvSpPr>
        <p:spPr>
          <a:xfrm xmlns:a="http://schemas.openxmlformats.org/drawingml/2006/main">
            <a:off x="78105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5707D"/>
                </a:solidFill>
                <a:latin typeface="Arial"/>
                <a:ea typeface="Arial"/>
                <a:cs typeface="Arial"/>
              </a:defRPr>
            </a:pPr>
            <a:r>
              <a:rPr sz="1350" b="0">
                <a:solidFill>
                  <a:srgbClr val="55707D"/>
                </a:solidFill>
                <a:latin typeface="Arial"/>
                <a:ea typeface="Arial"/>
                <a:cs typeface="Arial"/>
              </a:rPr>
              <a:t>Research question: Which features help distinguish the two survey responses?</a:t>
            </a:r>
          </a:p>
        </p:txBody>
      </p:sp>
    </p:spTree>
    <p:extLst>
      <p:ext uri="{BB962C8B-B14F-4D97-AF65-F5344CB8AC3E}">
        <p14:creationId xmlns:p14="http://schemas.microsoft.com/office/powerpoint/2010/main" val="11890161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B75037-DD92-41D0-ADBA-E8CBBD405EE5}"/>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Dataset and target</a:t>
            </a:r>
          </a:p>
        </p:txBody>
      </p:sp>
      <p:sp>
        <p:nvSpPr>
          <p:cNvPr id="2" name="">
            <a:extLst xmlns:a="http://schemas.openxmlformats.org/drawingml/2006/main">
              <a:ext uri="{FF2B5EF4-FFF2-40B4-BE49-F238E27FC236}">
                <a16:creationId xmlns:a16="http://schemas.microsoft.com/office/drawing/2014/main" id="{2D5C5073-B52C-4551-B7A5-210DEEE374FD}"/>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3 / 12</a:t>
            </a:r>
          </a:p>
        </p:txBody>
      </p:sp>
      <p:sp>
        <p:nvSpPr>
          <p:cNvPr id="3" name="">
            <a:extLst xmlns:a="http://schemas.openxmlformats.org/drawingml/2006/main">
              <a:ext uri="{FF2B5EF4-FFF2-40B4-BE49-F238E27FC236}">
                <a16:creationId xmlns:a16="http://schemas.microsoft.com/office/drawing/2014/main" id="{A6283B81-2507-4CBE-A114-52353F0F1168}"/>
              </a:ext>
            </a:extLst>
          </p:cNvPr>
          <p:cNvSpPr>
            <a:spLocks xmlns:a="http://schemas.openxmlformats.org/drawingml/2006/main" noGrp="1"/>
          </p:cNvSpPr>
          <p:nvPr/>
        </p:nvSpPr>
        <p:spPr>
          <a:xfrm xmlns:a="http://schemas.openxmlformats.org/drawingml/2006/main">
            <a:off x="781050" y="1695450"/>
            <a:ext cx="4953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007B79"/>
                </a:solidFill>
                <a:latin typeface="Arial"/>
                <a:ea typeface="Arial"/>
                <a:cs typeface="Arial"/>
              </a:defRPr>
            </a:pPr>
            <a:r>
              <a:rPr sz="6600" b="1">
                <a:solidFill>
                  <a:srgbClr val="007B79"/>
                </a:solidFill>
                <a:latin typeface="Arial"/>
                <a:ea typeface="Arial"/>
                <a:cs typeface="Arial"/>
              </a:rPr>
              <a:t>12,684</a:t>
            </a:r>
          </a:p>
        </p:txBody>
      </p:sp>
      <p:sp>
        <p:nvSpPr>
          <p:cNvPr id="4" name="">
            <a:extLst xmlns:a="http://schemas.openxmlformats.org/drawingml/2006/main">
              <a:ext uri="{FF2B5EF4-FFF2-40B4-BE49-F238E27FC236}">
                <a16:creationId xmlns:a16="http://schemas.microsoft.com/office/drawing/2014/main" id="{4907BDFA-BD0A-41B2-9078-52BB81A6AA07}"/>
              </a:ext>
            </a:extLst>
          </p:cNvPr>
          <p:cNvSpPr>
            <a:spLocks xmlns:a="http://schemas.openxmlformats.org/drawingml/2006/main" noGrp="1"/>
          </p:cNvSpPr>
          <p:nvPr/>
        </p:nvSpPr>
        <p:spPr>
          <a:xfrm xmlns:a="http://schemas.openxmlformats.org/drawingml/2006/main">
            <a:off x="857250" y="29432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42A3B"/>
                </a:solidFill>
                <a:latin typeface="Arial"/>
                <a:ea typeface="Arial"/>
                <a:cs typeface="Arial"/>
              </a:defRPr>
            </a:pPr>
            <a:r>
              <a:rPr sz="2100" b="0">
                <a:solidFill>
                  <a:srgbClr val="142A3B"/>
                </a:solidFill>
                <a:latin typeface="Arial"/>
                <a:ea typeface="Arial"/>
                <a:cs typeface="Arial"/>
              </a:rPr>
              <a:t>survey responses</a:t>
            </a:r>
          </a:p>
        </p:txBody>
      </p:sp>
      <p:sp>
        <p:nvSpPr>
          <p:cNvPr id="5" name="">
            <a:extLst xmlns:a="http://schemas.openxmlformats.org/drawingml/2006/main">
              <a:ext uri="{FF2B5EF4-FFF2-40B4-BE49-F238E27FC236}">
                <a16:creationId xmlns:a16="http://schemas.microsoft.com/office/drawing/2014/main" id="{1E8078A6-319E-4D64-86AB-625AA8EA4171}"/>
              </a:ext>
            </a:extLst>
          </p:cNvPr>
          <p:cNvSpPr>
            <a:spLocks xmlns:a="http://schemas.openxmlformats.org/drawingml/2006/main" noGrp="1"/>
          </p:cNvSpPr>
          <p:nvPr/>
        </p:nvSpPr>
        <p:spPr>
          <a:xfrm xmlns:a="http://schemas.openxmlformats.org/drawingml/2006/main">
            <a:off x="6572250" y="19431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42A3B"/>
                </a:solidFill>
                <a:latin typeface="Arial"/>
                <a:ea typeface="Arial"/>
                <a:cs typeface="Arial"/>
              </a:defRPr>
            </a:pPr>
            <a:r>
              <a:rPr sz="3150" b="1">
                <a:solidFill>
                  <a:srgbClr val="142A3B"/>
                </a:solidFill>
                <a:latin typeface="Arial"/>
                <a:ea typeface="Arial"/>
                <a:cs typeface="Arial"/>
              </a:rPr>
              <a:t>25 input features</a:t>
            </a:r>
          </a:p>
        </p:txBody>
      </p:sp>
      <p:sp>
        <p:nvSpPr>
          <p:cNvPr id="6" name="">
            <a:extLst xmlns:a="http://schemas.openxmlformats.org/drawingml/2006/main">
              <a:ext uri="{FF2B5EF4-FFF2-40B4-BE49-F238E27FC236}">
                <a16:creationId xmlns:a16="http://schemas.microsoft.com/office/drawing/2014/main" id="{E0459B65-4419-4ABE-B009-B8777FB4CFE5}"/>
              </a:ext>
            </a:extLst>
          </p:cNvPr>
          <p:cNvSpPr>
            <a:spLocks xmlns:a="http://schemas.openxmlformats.org/drawingml/2006/main" noGrp="1"/>
          </p:cNvSpPr>
          <p:nvPr/>
        </p:nvSpPr>
        <p:spPr>
          <a:xfrm xmlns:a="http://schemas.openxmlformats.org/drawingml/2006/main">
            <a:off x="781050" y="4000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93345"/>
                </a:solidFill>
                <a:latin typeface="Arial"/>
                <a:ea typeface="Arial"/>
                <a:cs typeface="Arial"/>
              </a:defRPr>
            </a:pPr>
            <a:r>
              <a:rPr sz="1950" b="0">
                <a:solidFill>
                  <a:srgbClr val="193345"/>
                </a:solidFill>
                <a:latin typeface="Arial"/>
                <a:ea typeface="Arial"/>
                <a:cs typeface="Arial"/>
              </a:rPr>
              <a:t>Examples: destination, time, passenger, weather, coupon type</a:t>
            </a:r>
          </a:p>
        </p:txBody>
      </p:sp>
      <p:sp>
        <p:nvSpPr>
          <p:cNvPr id="7" name="">
            <a:extLst xmlns:a="http://schemas.openxmlformats.org/drawingml/2006/main">
              <a:ext uri="{FF2B5EF4-FFF2-40B4-BE49-F238E27FC236}">
                <a16:creationId xmlns:a16="http://schemas.microsoft.com/office/drawing/2014/main" id="{AB42DEA8-B6BC-470D-A59D-8AAB6642F919}"/>
              </a:ext>
            </a:extLst>
          </p:cNvPr>
          <p:cNvSpPr>
            <a:spLocks xmlns:a="http://schemas.openxmlformats.org/drawingml/2006/main" noGrp="1"/>
          </p:cNvSpPr>
          <p:nvPr/>
        </p:nvSpPr>
        <p:spPr>
          <a:xfrm xmlns:a="http://schemas.openxmlformats.org/drawingml/2006/main">
            <a:off x="781050" y="46101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93345"/>
                </a:solidFill>
                <a:latin typeface="Arial"/>
                <a:ea typeface="Arial"/>
                <a:cs typeface="Arial"/>
              </a:defRPr>
            </a:pPr>
            <a:r>
              <a:rPr sz="1950" b="0">
                <a:solidFill>
                  <a:srgbClr val="193345"/>
                </a:solidFill>
                <a:latin typeface="Arial"/>
                <a:ea typeface="Arial"/>
                <a:cs typeface="Arial"/>
              </a:rPr>
              <a:t>Outcome: stated coupon acceptance (Y)</a:t>
            </a:r>
          </a:p>
        </p:txBody>
      </p:sp>
      <p:sp>
        <p:nvSpPr>
          <p:cNvPr id="8" name="">
            <a:extLst xmlns:a="http://schemas.openxmlformats.org/drawingml/2006/main">
              <a:ext uri="{FF2B5EF4-FFF2-40B4-BE49-F238E27FC236}">
                <a16:creationId xmlns:a16="http://schemas.microsoft.com/office/drawing/2014/main" id="{7F14E91A-6F54-4882-9C61-5CEAD6FC9A08}"/>
              </a:ext>
            </a:extLst>
          </p:cNvPr>
          <p:cNvSpPr>
            <a:spLocks xmlns:a="http://schemas.openxmlformats.org/drawingml/2006/main" noGrp="1"/>
          </p:cNvSpPr>
          <p:nvPr/>
        </p:nvSpPr>
        <p:spPr>
          <a:xfrm xmlns:a="http://schemas.openxmlformats.org/drawingml/2006/main">
            <a:off x="781050" y="58293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5707D"/>
                </a:solidFill>
                <a:latin typeface="Arial"/>
                <a:ea typeface="Arial"/>
                <a:cs typeface="Arial"/>
              </a:defRPr>
            </a:pPr>
            <a:r>
              <a:rPr sz="1350" b="0">
                <a:solidFill>
                  <a:srgbClr val="55707D"/>
                </a:solidFill>
                <a:latin typeface="Arial"/>
                <a:ea typeface="Arial"/>
                <a:cs typeface="Arial"/>
              </a:rPr>
              <a:t>Source: UCI In-Vehicle Coupon Recommendation, DOI 10.24432/C5GS4P</a:t>
            </a:r>
          </a:p>
        </p:txBody>
      </p:sp>
    </p:spTree>
    <p:extLst>
      <p:ext uri="{BB962C8B-B14F-4D97-AF65-F5344CB8AC3E}">
        <p14:creationId xmlns:p14="http://schemas.microsoft.com/office/powerpoint/2010/main" val="11957152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E05AF19-1451-40C0-9887-7248FC9D4AAD}"/>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KDD workflow</a:t>
            </a:r>
          </a:p>
        </p:txBody>
      </p:sp>
      <p:sp>
        <p:nvSpPr>
          <p:cNvPr id="2" name="">
            <a:extLst xmlns:a="http://schemas.openxmlformats.org/drawingml/2006/main">
              <a:ext uri="{FF2B5EF4-FFF2-40B4-BE49-F238E27FC236}">
                <a16:creationId xmlns:a16="http://schemas.microsoft.com/office/drawing/2014/main" id="{9A2E888E-CF8B-4593-8713-74633F3D2FA8}"/>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4 / 12</a:t>
            </a:r>
          </a:p>
        </p:txBody>
      </p:sp>
      <p:sp>
        <p:nvSpPr>
          <p:cNvPr id="3" name="">
            <a:extLst xmlns:a="http://schemas.openxmlformats.org/drawingml/2006/main">
              <a:ext uri="{FF2B5EF4-FFF2-40B4-BE49-F238E27FC236}">
                <a16:creationId xmlns:a16="http://schemas.microsoft.com/office/drawing/2014/main" id="{3717D63B-BE2E-4FC5-B722-D5E87DAB7524}"/>
              </a:ext>
            </a:extLst>
          </p:cNvPr>
          <p:cNvSpPr>
            <a:spLocks xmlns:a="http://schemas.openxmlformats.org/drawingml/2006/main" noGrp="1"/>
          </p:cNvSpPr>
          <p:nvPr/>
        </p:nvSpPr>
        <p:spPr>
          <a:xfrm xmlns:a="http://schemas.openxmlformats.org/drawingml/2006/main">
            <a:off x="781050" y="1476375"/>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007B79"/>
                </a:solidFill>
                <a:latin typeface="Arial"/>
                <a:ea typeface="Arial"/>
                <a:cs typeface="Arial"/>
              </a:defRPr>
            </a:pPr>
            <a:r>
              <a:rPr sz="2250" b="1">
                <a:solidFill>
                  <a:srgbClr val="007B79"/>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20588E4E-1277-4F18-A33D-2DF609C216F2}"/>
              </a:ext>
            </a:extLst>
          </p:cNvPr>
          <p:cNvSpPr>
            <a:spLocks xmlns:a="http://schemas.openxmlformats.org/drawingml/2006/main" noGrp="1"/>
          </p:cNvSpPr>
          <p:nvPr/>
        </p:nvSpPr>
        <p:spPr>
          <a:xfrm xmlns:a="http://schemas.openxmlformats.org/drawingml/2006/main">
            <a:off x="1447800" y="14763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42A3B"/>
                </a:solidFill>
                <a:latin typeface="Arial"/>
                <a:ea typeface="Arial"/>
                <a:cs typeface="Arial"/>
              </a:defRPr>
            </a:pPr>
            <a:r>
              <a:rPr sz="2025" b="1">
                <a:solidFill>
                  <a:srgbClr val="142A3B"/>
                </a:solidFill>
                <a:latin typeface="Arial"/>
                <a:ea typeface="Arial"/>
                <a:cs typeface="Arial"/>
              </a:rPr>
              <a:t>Select</a:t>
            </a:r>
          </a:p>
        </p:txBody>
      </p:sp>
      <p:sp>
        <p:nvSpPr>
          <p:cNvPr id="5" name="">
            <a:extLst xmlns:a="http://schemas.openxmlformats.org/drawingml/2006/main">
              <a:ext uri="{FF2B5EF4-FFF2-40B4-BE49-F238E27FC236}">
                <a16:creationId xmlns:a16="http://schemas.microsoft.com/office/drawing/2014/main" id="{03A871D6-8F55-4D8F-B509-1A62E0048708}"/>
              </a:ext>
            </a:extLst>
          </p:cNvPr>
          <p:cNvSpPr>
            <a:spLocks xmlns:a="http://schemas.openxmlformats.org/drawingml/2006/main" noGrp="1"/>
          </p:cNvSpPr>
          <p:nvPr/>
        </p:nvSpPr>
        <p:spPr>
          <a:xfrm xmlns:a="http://schemas.openxmlformats.org/drawingml/2006/main">
            <a:off x="3714750" y="147637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93345"/>
                </a:solidFill>
                <a:latin typeface="Arial"/>
                <a:ea typeface="Arial"/>
                <a:cs typeface="Arial"/>
              </a:defRPr>
            </a:pPr>
            <a:r>
              <a:rPr sz="1725" b="0">
                <a:solidFill>
                  <a:srgbClr val="193345"/>
                </a:solidFill>
                <a:latin typeface="Arial"/>
                <a:ea typeface="Arial"/>
                <a:cs typeface="Arial"/>
              </a:rPr>
              <a:t>Use relevant survey predictors and Y</a:t>
            </a:r>
          </a:p>
        </p:txBody>
      </p:sp>
      <p:sp>
        <p:nvSpPr>
          <p:cNvPr id="6" name="">
            <a:extLst xmlns:a="http://schemas.openxmlformats.org/drawingml/2006/main">
              <a:ext uri="{FF2B5EF4-FFF2-40B4-BE49-F238E27FC236}">
                <a16:creationId xmlns:a16="http://schemas.microsoft.com/office/drawing/2014/main" id="{B8FDEB7E-F8E7-4BD5-ACE2-7657C2B7DF4C}"/>
              </a:ext>
            </a:extLst>
          </p:cNvPr>
          <p:cNvSpPr>
            <a:spLocks xmlns:a="http://schemas.openxmlformats.org/drawingml/2006/main" noGrp="1"/>
          </p:cNvSpPr>
          <p:nvPr/>
        </p:nvSpPr>
        <p:spPr>
          <a:xfrm xmlns:a="http://schemas.openxmlformats.org/drawingml/2006/main">
            <a:off x="781050" y="2219325"/>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007B79"/>
                </a:solidFill>
                <a:latin typeface="Arial"/>
                <a:ea typeface="Arial"/>
                <a:cs typeface="Arial"/>
              </a:defRPr>
            </a:pPr>
            <a:r>
              <a:rPr sz="2250" b="1">
                <a:solidFill>
                  <a:srgbClr val="007B79"/>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2AD5EB60-58C5-435F-BF05-21C2E4DD00F6}"/>
              </a:ext>
            </a:extLst>
          </p:cNvPr>
          <p:cNvSpPr>
            <a:spLocks xmlns:a="http://schemas.openxmlformats.org/drawingml/2006/main" noGrp="1"/>
          </p:cNvSpPr>
          <p:nvPr/>
        </p:nvSpPr>
        <p:spPr>
          <a:xfrm xmlns:a="http://schemas.openxmlformats.org/drawingml/2006/main">
            <a:off x="1447800" y="221932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42A3B"/>
                </a:solidFill>
                <a:latin typeface="Arial"/>
                <a:ea typeface="Arial"/>
                <a:cs typeface="Arial"/>
              </a:defRPr>
            </a:pPr>
            <a:r>
              <a:rPr sz="2025" b="1">
                <a:solidFill>
                  <a:srgbClr val="142A3B"/>
                </a:solidFill>
                <a:latin typeface="Arial"/>
                <a:ea typeface="Arial"/>
                <a:cs typeface="Arial"/>
              </a:rPr>
              <a:t>Understand</a:t>
            </a:r>
          </a:p>
        </p:txBody>
      </p:sp>
      <p:sp>
        <p:nvSpPr>
          <p:cNvPr id="8" name="">
            <a:extLst xmlns:a="http://schemas.openxmlformats.org/drawingml/2006/main">
              <a:ext uri="{FF2B5EF4-FFF2-40B4-BE49-F238E27FC236}">
                <a16:creationId xmlns:a16="http://schemas.microsoft.com/office/drawing/2014/main" id="{6B65722E-8809-4C1B-A1D3-B359416C020C}"/>
              </a:ext>
            </a:extLst>
          </p:cNvPr>
          <p:cNvSpPr>
            <a:spLocks xmlns:a="http://schemas.openxmlformats.org/drawingml/2006/main" noGrp="1"/>
          </p:cNvSpPr>
          <p:nvPr/>
        </p:nvSpPr>
        <p:spPr>
          <a:xfrm xmlns:a="http://schemas.openxmlformats.org/drawingml/2006/main">
            <a:off x="3714750" y="221932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93345"/>
                </a:solidFill>
                <a:latin typeface="Arial"/>
                <a:ea typeface="Arial"/>
                <a:cs typeface="Arial"/>
              </a:defRPr>
            </a:pPr>
            <a:r>
              <a:rPr sz="1725" b="0">
                <a:solidFill>
                  <a:srgbClr val="193345"/>
                </a:solidFill>
                <a:latin typeface="Arial"/>
                <a:ea typeface="Arial"/>
                <a:cs typeface="Arial"/>
              </a:rPr>
              <a:t>Audit types, balance and missingness</a:t>
            </a:r>
          </a:p>
        </p:txBody>
      </p:sp>
      <p:sp>
        <p:nvSpPr>
          <p:cNvPr id="9" name="">
            <a:extLst xmlns:a="http://schemas.openxmlformats.org/drawingml/2006/main">
              <a:ext uri="{FF2B5EF4-FFF2-40B4-BE49-F238E27FC236}">
                <a16:creationId xmlns:a16="http://schemas.microsoft.com/office/drawing/2014/main" id="{EDD95293-E531-4757-821F-5772CFF3CD13}"/>
              </a:ext>
            </a:extLst>
          </p:cNvPr>
          <p:cNvSpPr>
            <a:spLocks xmlns:a="http://schemas.openxmlformats.org/drawingml/2006/main" noGrp="1"/>
          </p:cNvSpPr>
          <p:nvPr/>
        </p:nvSpPr>
        <p:spPr>
          <a:xfrm xmlns:a="http://schemas.openxmlformats.org/drawingml/2006/main">
            <a:off x="781050" y="2962275"/>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007B79"/>
                </a:solidFill>
                <a:latin typeface="Arial"/>
                <a:ea typeface="Arial"/>
                <a:cs typeface="Arial"/>
              </a:defRPr>
            </a:pPr>
            <a:r>
              <a:rPr sz="2250" b="1">
                <a:solidFill>
                  <a:srgbClr val="007B79"/>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549865F0-59E9-40BC-AF5F-1780246B3AD5}"/>
              </a:ext>
            </a:extLst>
          </p:cNvPr>
          <p:cNvSpPr>
            <a:spLocks xmlns:a="http://schemas.openxmlformats.org/drawingml/2006/main" noGrp="1"/>
          </p:cNvSpPr>
          <p:nvPr/>
        </p:nvSpPr>
        <p:spPr>
          <a:xfrm xmlns:a="http://schemas.openxmlformats.org/drawingml/2006/main">
            <a:off x="1447800" y="29622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42A3B"/>
                </a:solidFill>
                <a:latin typeface="Arial"/>
                <a:ea typeface="Arial"/>
                <a:cs typeface="Arial"/>
              </a:defRPr>
            </a:pPr>
            <a:r>
              <a:rPr sz="2025" b="1">
                <a:solidFill>
                  <a:srgbClr val="142A3B"/>
                </a:solidFill>
                <a:latin typeface="Arial"/>
                <a:ea typeface="Arial"/>
                <a:cs typeface="Arial"/>
              </a:rPr>
              <a:t>Prepare</a:t>
            </a:r>
          </a:p>
        </p:txBody>
      </p:sp>
      <p:sp>
        <p:nvSpPr>
          <p:cNvPr id="11" name="">
            <a:extLst xmlns:a="http://schemas.openxmlformats.org/drawingml/2006/main">
              <a:ext uri="{FF2B5EF4-FFF2-40B4-BE49-F238E27FC236}">
                <a16:creationId xmlns:a16="http://schemas.microsoft.com/office/drawing/2014/main" id="{4C4FAA88-92E4-4F30-9FCA-043FCDDC8D67}"/>
              </a:ext>
            </a:extLst>
          </p:cNvPr>
          <p:cNvSpPr>
            <a:spLocks xmlns:a="http://schemas.openxmlformats.org/drawingml/2006/main" noGrp="1"/>
          </p:cNvSpPr>
          <p:nvPr/>
        </p:nvSpPr>
        <p:spPr>
          <a:xfrm xmlns:a="http://schemas.openxmlformats.org/drawingml/2006/main">
            <a:off x="3714750" y="296227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93345"/>
                </a:solidFill>
                <a:latin typeface="Arial"/>
                <a:ea typeface="Arial"/>
                <a:cs typeface="Arial"/>
              </a:defRPr>
            </a:pPr>
            <a:r>
              <a:rPr sz="1725" b="0">
                <a:solidFill>
                  <a:srgbClr val="193345"/>
                </a:solidFill>
                <a:latin typeface="Arial"/>
                <a:ea typeface="Arial"/>
                <a:cs typeface="Arial"/>
              </a:rPr>
              <a:t>Split data and fit imputation within training</a:t>
            </a:r>
          </a:p>
        </p:txBody>
      </p:sp>
      <p:sp>
        <p:nvSpPr>
          <p:cNvPr id="12" name="">
            <a:extLst xmlns:a="http://schemas.openxmlformats.org/drawingml/2006/main">
              <a:ext uri="{FF2B5EF4-FFF2-40B4-BE49-F238E27FC236}">
                <a16:creationId xmlns:a16="http://schemas.microsoft.com/office/drawing/2014/main" id="{E39A3EEE-7336-4DB9-8F02-83ED8E754C8B}"/>
              </a:ext>
            </a:extLst>
          </p:cNvPr>
          <p:cNvSpPr>
            <a:spLocks xmlns:a="http://schemas.openxmlformats.org/drawingml/2006/main" noGrp="1"/>
          </p:cNvSpPr>
          <p:nvPr/>
        </p:nvSpPr>
        <p:spPr>
          <a:xfrm xmlns:a="http://schemas.openxmlformats.org/drawingml/2006/main">
            <a:off x="781050" y="3705225"/>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007B79"/>
                </a:solidFill>
                <a:latin typeface="Arial"/>
                <a:ea typeface="Arial"/>
                <a:cs typeface="Arial"/>
              </a:defRPr>
            </a:pPr>
            <a:r>
              <a:rPr sz="2250" b="1">
                <a:solidFill>
                  <a:srgbClr val="007B79"/>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6F98BB6C-3352-43A9-A623-E6D7F29E04A0}"/>
              </a:ext>
            </a:extLst>
          </p:cNvPr>
          <p:cNvSpPr>
            <a:spLocks xmlns:a="http://schemas.openxmlformats.org/drawingml/2006/main" noGrp="1"/>
          </p:cNvSpPr>
          <p:nvPr/>
        </p:nvSpPr>
        <p:spPr>
          <a:xfrm xmlns:a="http://schemas.openxmlformats.org/drawingml/2006/main">
            <a:off x="1447800" y="370522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42A3B"/>
                </a:solidFill>
                <a:latin typeface="Arial"/>
                <a:ea typeface="Arial"/>
                <a:cs typeface="Arial"/>
              </a:defRPr>
            </a:pPr>
            <a:r>
              <a:rPr sz="2025" b="1">
                <a:solidFill>
                  <a:srgbClr val="142A3B"/>
                </a:solidFill>
                <a:latin typeface="Arial"/>
                <a:ea typeface="Arial"/>
                <a:cs typeface="Arial"/>
              </a:rPr>
              <a:t>Transform</a:t>
            </a:r>
          </a:p>
        </p:txBody>
      </p:sp>
      <p:sp>
        <p:nvSpPr>
          <p:cNvPr id="14" name="">
            <a:extLst xmlns:a="http://schemas.openxmlformats.org/drawingml/2006/main">
              <a:ext uri="{FF2B5EF4-FFF2-40B4-BE49-F238E27FC236}">
                <a16:creationId xmlns:a16="http://schemas.microsoft.com/office/drawing/2014/main" id="{938EEF89-C018-4B4C-A8E0-03FB1A495B20}"/>
              </a:ext>
            </a:extLst>
          </p:cNvPr>
          <p:cNvSpPr>
            <a:spLocks xmlns:a="http://schemas.openxmlformats.org/drawingml/2006/main" noGrp="1"/>
          </p:cNvSpPr>
          <p:nvPr/>
        </p:nvSpPr>
        <p:spPr>
          <a:xfrm xmlns:a="http://schemas.openxmlformats.org/drawingml/2006/main">
            <a:off x="3714750" y="370522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93345"/>
                </a:solidFill>
                <a:latin typeface="Arial"/>
                <a:ea typeface="Arial"/>
                <a:cs typeface="Arial"/>
              </a:defRPr>
            </a:pPr>
            <a:r>
              <a:rPr sz="1725" b="0">
                <a:solidFill>
                  <a:srgbClr val="193345"/>
                </a:solidFill>
                <a:latin typeface="Arial"/>
                <a:ea typeface="Arial"/>
                <a:cs typeface="Arial"/>
              </a:rPr>
              <a:t>Encode categories and scale where useful</a:t>
            </a:r>
          </a:p>
        </p:txBody>
      </p:sp>
      <p:sp>
        <p:nvSpPr>
          <p:cNvPr id="15" name="">
            <a:extLst xmlns:a="http://schemas.openxmlformats.org/drawingml/2006/main">
              <a:ext uri="{FF2B5EF4-FFF2-40B4-BE49-F238E27FC236}">
                <a16:creationId xmlns:a16="http://schemas.microsoft.com/office/drawing/2014/main" id="{834D9810-0E7A-49F8-A2C8-C2F74CEE10C7}"/>
              </a:ext>
            </a:extLst>
          </p:cNvPr>
          <p:cNvSpPr>
            <a:spLocks xmlns:a="http://schemas.openxmlformats.org/drawingml/2006/main" noGrp="1"/>
          </p:cNvSpPr>
          <p:nvPr/>
        </p:nvSpPr>
        <p:spPr>
          <a:xfrm xmlns:a="http://schemas.openxmlformats.org/drawingml/2006/main">
            <a:off x="781050" y="4448175"/>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007B79"/>
                </a:solidFill>
                <a:latin typeface="Arial"/>
                <a:ea typeface="Arial"/>
                <a:cs typeface="Arial"/>
              </a:defRPr>
            </a:pPr>
            <a:r>
              <a:rPr sz="2250" b="1">
                <a:solidFill>
                  <a:srgbClr val="007B79"/>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B7B8AF12-2B57-4B47-B2E0-5E0C5F7E13A7}"/>
              </a:ext>
            </a:extLst>
          </p:cNvPr>
          <p:cNvSpPr>
            <a:spLocks xmlns:a="http://schemas.openxmlformats.org/drawingml/2006/main" noGrp="1"/>
          </p:cNvSpPr>
          <p:nvPr/>
        </p:nvSpPr>
        <p:spPr>
          <a:xfrm xmlns:a="http://schemas.openxmlformats.org/drawingml/2006/main">
            <a:off x="1447800" y="44481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42A3B"/>
                </a:solidFill>
                <a:latin typeface="Arial"/>
                <a:ea typeface="Arial"/>
                <a:cs typeface="Arial"/>
              </a:defRPr>
            </a:pPr>
            <a:r>
              <a:rPr sz="2025" b="1">
                <a:solidFill>
                  <a:srgbClr val="142A3B"/>
                </a:solidFill>
                <a:latin typeface="Arial"/>
                <a:ea typeface="Arial"/>
                <a:cs typeface="Arial"/>
              </a:rPr>
              <a:t>Model</a:t>
            </a:r>
          </a:p>
        </p:txBody>
      </p:sp>
      <p:sp>
        <p:nvSpPr>
          <p:cNvPr id="17" name="">
            <a:extLst xmlns:a="http://schemas.openxmlformats.org/drawingml/2006/main">
              <a:ext uri="{FF2B5EF4-FFF2-40B4-BE49-F238E27FC236}">
                <a16:creationId xmlns:a16="http://schemas.microsoft.com/office/drawing/2014/main" id="{A38F9A40-6453-46AC-9F2C-BE5C05AA642E}"/>
              </a:ext>
            </a:extLst>
          </p:cNvPr>
          <p:cNvSpPr>
            <a:spLocks xmlns:a="http://schemas.openxmlformats.org/drawingml/2006/main" noGrp="1"/>
          </p:cNvSpPr>
          <p:nvPr/>
        </p:nvSpPr>
        <p:spPr>
          <a:xfrm xmlns:a="http://schemas.openxmlformats.org/drawingml/2006/main">
            <a:off x="3714750" y="444817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93345"/>
                </a:solidFill>
                <a:latin typeface="Arial"/>
                <a:ea typeface="Arial"/>
                <a:cs typeface="Arial"/>
              </a:defRPr>
            </a:pPr>
            <a:r>
              <a:rPr sz="1725" b="0">
                <a:solidFill>
                  <a:srgbClr val="193345"/>
                </a:solidFill>
                <a:latin typeface="Arial"/>
                <a:ea typeface="Arial"/>
                <a:cs typeface="Arial"/>
              </a:rPr>
              <a:t>Compare classification methods</a:t>
            </a:r>
          </a:p>
        </p:txBody>
      </p:sp>
      <p:sp>
        <p:nvSpPr>
          <p:cNvPr id="18" name="">
            <a:extLst xmlns:a="http://schemas.openxmlformats.org/drawingml/2006/main">
              <a:ext uri="{FF2B5EF4-FFF2-40B4-BE49-F238E27FC236}">
                <a16:creationId xmlns:a16="http://schemas.microsoft.com/office/drawing/2014/main" id="{C703D3C8-3459-48FE-8F4D-180D71A74A37}"/>
              </a:ext>
            </a:extLst>
          </p:cNvPr>
          <p:cNvSpPr>
            <a:spLocks xmlns:a="http://schemas.openxmlformats.org/drawingml/2006/main" noGrp="1"/>
          </p:cNvSpPr>
          <p:nvPr/>
        </p:nvSpPr>
        <p:spPr>
          <a:xfrm xmlns:a="http://schemas.openxmlformats.org/drawingml/2006/main">
            <a:off x="781050" y="5191125"/>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007B79"/>
                </a:solidFill>
                <a:latin typeface="Arial"/>
                <a:ea typeface="Arial"/>
                <a:cs typeface="Arial"/>
              </a:defRPr>
            </a:pPr>
            <a:r>
              <a:rPr sz="2250" b="1">
                <a:solidFill>
                  <a:srgbClr val="007B79"/>
                </a:solidFill>
                <a:latin typeface="Arial"/>
                <a:ea typeface="Arial"/>
                <a:cs typeface="Arial"/>
              </a:rPr>
              <a:t>6</a:t>
            </a:r>
          </a:p>
        </p:txBody>
      </p:sp>
      <p:sp>
        <p:nvSpPr>
          <p:cNvPr id="19" name="">
            <a:extLst xmlns:a="http://schemas.openxmlformats.org/drawingml/2006/main">
              <a:ext uri="{FF2B5EF4-FFF2-40B4-BE49-F238E27FC236}">
                <a16:creationId xmlns:a16="http://schemas.microsoft.com/office/drawing/2014/main" id="{9B8AF80C-F4B7-40E3-BA9A-605792BD374E}"/>
              </a:ext>
            </a:extLst>
          </p:cNvPr>
          <p:cNvSpPr>
            <a:spLocks xmlns:a="http://schemas.openxmlformats.org/drawingml/2006/main" noGrp="1"/>
          </p:cNvSpPr>
          <p:nvPr/>
        </p:nvSpPr>
        <p:spPr>
          <a:xfrm xmlns:a="http://schemas.openxmlformats.org/drawingml/2006/main">
            <a:off x="1447800" y="519112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42A3B"/>
                </a:solidFill>
                <a:latin typeface="Arial"/>
                <a:ea typeface="Arial"/>
                <a:cs typeface="Arial"/>
              </a:defRPr>
            </a:pPr>
            <a:r>
              <a:rPr sz="2025" b="1">
                <a:solidFill>
                  <a:srgbClr val="142A3B"/>
                </a:solidFill>
                <a:latin typeface="Arial"/>
                <a:ea typeface="Arial"/>
                <a:cs typeface="Arial"/>
              </a:rPr>
              <a:t>Interpret</a:t>
            </a:r>
          </a:p>
        </p:txBody>
      </p:sp>
      <p:sp>
        <p:nvSpPr>
          <p:cNvPr id="20" name="">
            <a:extLst xmlns:a="http://schemas.openxmlformats.org/drawingml/2006/main">
              <a:ext uri="{FF2B5EF4-FFF2-40B4-BE49-F238E27FC236}">
                <a16:creationId xmlns:a16="http://schemas.microsoft.com/office/drawing/2014/main" id="{BA3B02FF-9DB9-4DD5-AF7C-A7BD11CF1F6C}"/>
              </a:ext>
            </a:extLst>
          </p:cNvPr>
          <p:cNvSpPr>
            <a:spLocks xmlns:a="http://schemas.openxmlformats.org/drawingml/2006/main" noGrp="1"/>
          </p:cNvSpPr>
          <p:nvPr/>
        </p:nvSpPr>
        <p:spPr>
          <a:xfrm xmlns:a="http://schemas.openxmlformats.org/drawingml/2006/main">
            <a:off x="3714750" y="519112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93345"/>
                </a:solidFill>
                <a:latin typeface="Arial"/>
                <a:ea typeface="Arial"/>
                <a:cs typeface="Arial"/>
              </a:defRPr>
            </a:pPr>
            <a:r>
              <a:rPr sz="1725" b="0">
                <a:solidFill>
                  <a:srgbClr val="193345"/>
                </a:solidFill>
                <a:latin typeface="Arial"/>
                <a:ea typeface="Arial"/>
                <a:cs typeface="Arial"/>
              </a:rPr>
              <a:t>Test, inspect errors and explain limits</a:t>
            </a:r>
          </a:p>
        </p:txBody>
      </p:sp>
    </p:spTree>
    <p:extLst>
      <p:ext uri="{BB962C8B-B14F-4D97-AF65-F5344CB8AC3E}">
        <p14:creationId xmlns:p14="http://schemas.microsoft.com/office/powerpoint/2010/main" val="265364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2201A9-CC20-414A-A0C0-289D995B5752}"/>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Data quality and study design</a:t>
            </a:r>
          </a:p>
        </p:txBody>
      </p:sp>
      <p:sp>
        <p:nvSpPr>
          <p:cNvPr id="2" name="">
            <a:extLst xmlns:a="http://schemas.openxmlformats.org/drawingml/2006/main">
              <a:ext uri="{FF2B5EF4-FFF2-40B4-BE49-F238E27FC236}">
                <a16:creationId xmlns:a16="http://schemas.microsoft.com/office/drawing/2014/main" id="{F96648C2-4A7C-47BF-941C-FC602F53A929}"/>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5 / 12</a:t>
            </a:r>
          </a:p>
        </p:txBody>
      </p:sp>
      <p:sp>
        <p:nvSpPr>
          <p:cNvPr id="3" name="">
            <a:extLst xmlns:a="http://schemas.openxmlformats.org/drawingml/2006/main">
              <a:ext uri="{FF2B5EF4-FFF2-40B4-BE49-F238E27FC236}">
                <a16:creationId xmlns:a16="http://schemas.microsoft.com/office/drawing/2014/main" id="{D92FF8CA-CF72-4923-A83D-97BED46B53C2}"/>
              </a:ext>
            </a:extLst>
          </p:cNvPr>
          <p:cNvSpPr>
            <a:spLocks xmlns:a="http://schemas.openxmlformats.org/drawingml/2006/main" noGrp="1"/>
          </p:cNvSpPr>
          <p:nvPr/>
        </p:nvSpPr>
        <p:spPr>
          <a:xfrm xmlns:a="http://schemas.openxmlformats.org/drawingml/2006/main">
            <a:off x="781050" y="1638300"/>
            <a:ext cx="83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007B79"/>
                </a:solidFill>
                <a:latin typeface="Arial"/>
                <a:ea typeface="Arial"/>
                <a:cs typeface="Arial"/>
              </a:defRPr>
            </a:pPr>
            <a:r>
              <a:rPr sz="3300" b="1">
                <a:solidFill>
                  <a:srgbClr val="007B7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78AC390-34DB-41EC-8887-5C6398E92D63}"/>
              </a:ext>
            </a:extLst>
          </p:cNvPr>
          <p:cNvSpPr>
            <a:spLocks xmlns:a="http://schemas.openxmlformats.org/drawingml/2006/main" noGrp="1"/>
          </p:cNvSpPr>
          <p:nvPr/>
        </p:nvSpPr>
        <p:spPr>
          <a:xfrm xmlns:a="http://schemas.openxmlformats.org/drawingml/2006/main">
            <a:off x="1762125" y="1638300"/>
            <a:ext cx="947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42A3B"/>
                </a:solidFill>
                <a:latin typeface="Arial"/>
                <a:ea typeface="Arial"/>
                <a:cs typeface="Arial"/>
              </a:defRPr>
            </a:pPr>
            <a:r>
              <a:rPr sz="2175" b="1">
                <a:solidFill>
                  <a:srgbClr val="142A3B"/>
                </a:solidFill>
                <a:latin typeface="Arial"/>
                <a:ea typeface="Arial"/>
                <a:cs typeface="Arial"/>
              </a:rPr>
              <a:t>Quality audit</a:t>
            </a:r>
          </a:p>
        </p:txBody>
      </p:sp>
      <p:sp>
        <p:nvSpPr>
          <p:cNvPr id="5" name="">
            <a:extLst xmlns:a="http://schemas.openxmlformats.org/drawingml/2006/main">
              <a:ext uri="{FF2B5EF4-FFF2-40B4-BE49-F238E27FC236}">
                <a16:creationId xmlns:a16="http://schemas.microsoft.com/office/drawing/2014/main" id="{C30976A5-2E27-4E2C-A4E6-9D4F03E7D91B}"/>
              </a:ext>
            </a:extLst>
          </p:cNvPr>
          <p:cNvSpPr>
            <a:spLocks xmlns:a="http://schemas.openxmlformats.org/drawingml/2006/main" noGrp="1"/>
          </p:cNvSpPr>
          <p:nvPr/>
        </p:nvSpPr>
        <p:spPr>
          <a:xfrm xmlns:a="http://schemas.openxmlformats.org/drawingml/2006/main">
            <a:off x="1762125" y="2095500"/>
            <a:ext cx="9477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93345"/>
                </a:solidFill>
                <a:latin typeface="Arial"/>
                <a:ea typeface="Arial"/>
                <a:cs typeface="Arial"/>
              </a:defRPr>
            </a:pPr>
            <a:r>
              <a:rPr sz="1650" b="0">
                <a:solidFill>
                  <a:srgbClr val="193345"/>
                </a:solidFill>
                <a:latin typeface="Arial"/>
                <a:ea typeface="Arial"/>
                <a:cs typeface="Arial"/>
              </a:rPr>
              <a:t>Missing cells, repeated scenarios and response balance</a:t>
            </a:r>
          </a:p>
        </p:txBody>
      </p:sp>
      <p:sp>
        <p:nvSpPr>
          <p:cNvPr id="6" name="">
            <a:extLst xmlns:a="http://schemas.openxmlformats.org/drawingml/2006/main">
              <a:ext uri="{FF2B5EF4-FFF2-40B4-BE49-F238E27FC236}">
                <a16:creationId xmlns:a16="http://schemas.microsoft.com/office/drawing/2014/main" id="{FD406C9B-4905-4355-BD38-205301F81242}"/>
              </a:ext>
            </a:extLst>
          </p:cNvPr>
          <p:cNvSpPr>
            <a:spLocks xmlns:a="http://schemas.openxmlformats.org/drawingml/2006/main" noGrp="1"/>
          </p:cNvSpPr>
          <p:nvPr/>
        </p:nvSpPr>
        <p:spPr>
          <a:xfrm xmlns:a="http://schemas.openxmlformats.org/drawingml/2006/main">
            <a:off x="781050" y="3105150"/>
            <a:ext cx="83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007B79"/>
                </a:solidFill>
                <a:latin typeface="Arial"/>
                <a:ea typeface="Arial"/>
                <a:cs typeface="Arial"/>
              </a:defRPr>
            </a:pPr>
            <a:r>
              <a:rPr sz="3300" b="1">
                <a:solidFill>
                  <a:srgbClr val="007B79"/>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3C30721-354E-4DD9-B16F-B2182FE1EED4}"/>
              </a:ext>
            </a:extLst>
          </p:cNvPr>
          <p:cNvSpPr>
            <a:spLocks xmlns:a="http://schemas.openxmlformats.org/drawingml/2006/main" noGrp="1"/>
          </p:cNvSpPr>
          <p:nvPr/>
        </p:nvSpPr>
        <p:spPr>
          <a:xfrm xmlns:a="http://schemas.openxmlformats.org/drawingml/2006/main">
            <a:off x="1762125" y="3105150"/>
            <a:ext cx="947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42A3B"/>
                </a:solidFill>
                <a:latin typeface="Arial"/>
                <a:ea typeface="Arial"/>
                <a:cs typeface="Arial"/>
              </a:defRPr>
            </a:pPr>
            <a:r>
              <a:rPr sz="2175" b="1">
                <a:solidFill>
                  <a:srgbClr val="142A3B"/>
                </a:solidFill>
                <a:latin typeface="Arial"/>
                <a:ea typeface="Arial"/>
                <a:cs typeface="Arial"/>
              </a:rPr>
              <a:t>Holdout test</a:t>
            </a:r>
          </a:p>
        </p:txBody>
      </p:sp>
      <p:sp>
        <p:nvSpPr>
          <p:cNvPr id="8" name="">
            <a:extLst xmlns:a="http://schemas.openxmlformats.org/drawingml/2006/main">
              <a:ext uri="{FF2B5EF4-FFF2-40B4-BE49-F238E27FC236}">
                <a16:creationId xmlns:a16="http://schemas.microsoft.com/office/drawing/2014/main" id="{A64AC17D-38C4-4DFC-81C5-20621BE00278}"/>
              </a:ext>
            </a:extLst>
          </p:cNvPr>
          <p:cNvSpPr>
            <a:spLocks xmlns:a="http://schemas.openxmlformats.org/drawingml/2006/main" noGrp="1"/>
          </p:cNvSpPr>
          <p:nvPr/>
        </p:nvSpPr>
        <p:spPr>
          <a:xfrm xmlns:a="http://schemas.openxmlformats.org/drawingml/2006/main">
            <a:off x="1762125" y="3562350"/>
            <a:ext cx="9477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93345"/>
                </a:solidFill>
                <a:latin typeface="Arial"/>
                <a:ea typeface="Arial"/>
                <a:cs typeface="Arial"/>
              </a:defRPr>
            </a:pPr>
            <a:r>
              <a:rPr sz="1650" b="0">
                <a:solidFill>
                  <a:srgbClr val="193345"/>
                </a:solidFill>
                <a:latin typeface="Arial"/>
                <a:ea typeface="Arial"/>
                <a:cs typeface="Arial"/>
              </a:rPr>
              <a:t>Group identical predictor profiles across partitions</a:t>
            </a:r>
          </a:p>
        </p:txBody>
      </p:sp>
      <p:sp>
        <p:nvSpPr>
          <p:cNvPr id="9" name="">
            <a:extLst xmlns:a="http://schemas.openxmlformats.org/drawingml/2006/main">
              <a:ext uri="{FF2B5EF4-FFF2-40B4-BE49-F238E27FC236}">
                <a16:creationId xmlns:a16="http://schemas.microsoft.com/office/drawing/2014/main" id="{21ED36CB-A8CD-4AB1-AD05-EE5E98E82CC3}"/>
              </a:ext>
            </a:extLst>
          </p:cNvPr>
          <p:cNvSpPr>
            <a:spLocks xmlns:a="http://schemas.openxmlformats.org/drawingml/2006/main" noGrp="1"/>
          </p:cNvSpPr>
          <p:nvPr/>
        </p:nvSpPr>
        <p:spPr>
          <a:xfrm xmlns:a="http://schemas.openxmlformats.org/drawingml/2006/main">
            <a:off x="781050" y="52292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5707D"/>
                </a:solidFill>
                <a:latin typeface="Arial"/>
                <a:ea typeface="Arial"/>
                <a:cs typeface="Arial"/>
              </a:defRPr>
            </a:pPr>
            <a:r>
              <a:rPr sz="1350" b="0">
                <a:solidFill>
                  <a:srgbClr val="55707D"/>
                </a:solidFill>
                <a:latin typeface="Arial"/>
                <a:ea typeface="Arial"/>
                <a:cs typeface="Arial"/>
              </a:rPr>
              <a:t>Training: 10148 rows    Test: 2536 rows    Exact duplicates: 74</a:t>
            </a:r>
          </a:p>
        </p:txBody>
      </p:sp>
    </p:spTree>
    <p:extLst>
      <p:ext uri="{BB962C8B-B14F-4D97-AF65-F5344CB8AC3E}">
        <p14:creationId xmlns:p14="http://schemas.microsoft.com/office/powerpoint/2010/main" val="5458533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5C7209-56A8-4391-B771-05E6D9257FB3}"/>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Acceptance varies by coupon type</a:t>
            </a:r>
          </a:p>
        </p:txBody>
      </p:sp>
      <p:sp>
        <p:nvSpPr>
          <p:cNvPr id="2" name="">
            <a:extLst xmlns:a="http://schemas.openxmlformats.org/drawingml/2006/main">
              <a:ext uri="{FF2B5EF4-FFF2-40B4-BE49-F238E27FC236}">
                <a16:creationId xmlns:a16="http://schemas.microsoft.com/office/drawing/2014/main" id="{696B6C3D-D076-4194-8C07-AC4F3DB17915}"/>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6 / 12</a:t>
            </a:r>
          </a:p>
        </p:txBody>
      </p:sp>
      <p:graphicFrame>
        <p:nvGraphicFramePr>
          <p:cNvPr id="7" name="Chart"/>
          <p:cNvGraphicFramePr/>
          <p:nvPr/>
        </p:nvGraphicFramePr>
        <p:xfrm>
          <a:off xmlns:a="http://schemas.openxmlformats.org/drawingml/2006/main" x="1190625" y="1619250"/>
          <a:ext xmlns:a="http://schemas.openxmlformats.org/drawingml/2006/main" cx="9763125" cy="4095750"/>
        </p:xfrm>
        <a:graphic xmlns:a="http://schemas.openxmlformats.org/drawingml/2006/main">
          <a:graphicData uri="http://schemas.openxmlformats.org/drawingml/2006/chart">
            <c:chart xmlns:r="http://schemas.openxmlformats.org/officeDocument/2006/relationships" xmlns:c="http://schemas.openxmlformats.org/drawingml/2006/chart" r:id="Rcff296399f3641a2"/>
          </a:graphicData>
        </a:graphic>
      </p:graphicFrame>
      <p:sp>
        <p:nvSpPr>
          <p:cNvPr id="4" name="">
            <a:extLst xmlns:a="http://schemas.openxmlformats.org/drawingml/2006/main">
              <a:ext uri="{FF2B5EF4-FFF2-40B4-BE49-F238E27FC236}">
                <a16:creationId xmlns:a16="http://schemas.microsoft.com/office/drawing/2014/main" id="{EE6176AD-9345-4E09-9ED3-0FFCE175515A}"/>
              </a:ext>
            </a:extLst>
          </p:cNvPr>
          <p:cNvSpPr>
            <a:spLocks xmlns:a="http://schemas.openxmlformats.org/drawingml/2006/main" noGrp="1"/>
          </p:cNvSpPr>
          <p:nvPr/>
        </p:nvSpPr>
        <p:spPr>
          <a:xfrm xmlns:a="http://schemas.openxmlformats.org/drawingml/2006/main">
            <a:off x="781050" y="5924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5707D"/>
                </a:solidFill>
                <a:latin typeface="Arial"/>
                <a:ea typeface="Arial"/>
                <a:cs typeface="Arial"/>
              </a:defRPr>
            </a:pPr>
            <a:r>
              <a:rPr sz="1350" b="0">
                <a:solidFill>
                  <a:srgbClr val="55707D"/>
                </a:solidFill>
                <a:latin typeface="Arial"/>
                <a:ea typeface="Arial"/>
                <a:cs typeface="Arial"/>
              </a:rPr>
              <a:t>Training data only. The percentages describe stated acceptance.</a:t>
            </a:r>
          </a:p>
        </p:txBody>
      </p:sp>
    </p:spTree>
    <p:extLst>
      <p:ext uri="{BB962C8B-B14F-4D97-AF65-F5344CB8AC3E}">
        <p14:creationId xmlns:p14="http://schemas.microsoft.com/office/powerpoint/2010/main" val="7956951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E2445E-90FD-4D0E-8BB4-C682B194E77B}"/>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Preparation and validation</a:t>
            </a:r>
          </a:p>
        </p:txBody>
      </p:sp>
      <p:sp>
        <p:nvSpPr>
          <p:cNvPr id="2" name="">
            <a:extLst xmlns:a="http://schemas.openxmlformats.org/drawingml/2006/main">
              <a:ext uri="{FF2B5EF4-FFF2-40B4-BE49-F238E27FC236}">
                <a16:creationId xmlns:a16="http://schemas.microsoft.com/office/drawing/2014/main" id="{E0A7544E-1587-40B3-8E60-11099736A1EA}"/>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7 / 12</a:t>
            </a:r>
          </a:p>
        </p:txBody>
      </p:sp>
      <p:sp>
        <p:nvSpPr>
          <p:cNvPr id="3" name="">
            <a:extLst xmlns:a="http://schemas.openxmlformats.org/drawingml/2006/main">
              <a:ext uri="{FF2B5EF4-FFF2-40B4-BE49-F238E27FC236}">
                <a16:creationId xmlns:a16="http://schemas.microsoft.com/office/drawing/2014/main" id="{F5EF171E-058F-4CAD-AAA2-0007DDDBD056}"/>
              </a:ext>
            </a:extLst>
          </p:cNvPr>
          <p:cNvSpPr>
            <a:spLocks xmlns:a="http://schemas.openxmlformats.org/drawingml/2006/main" noGrp="1"/>
          </p:cNvSpPr>
          <p:nvPr/>
        </p:nvSpPr>
        <p:spPr>
          <a:xfrm xmlns:a="http://schemas.openxmlformats.org/drawingml/2006/main">
            <a:off x="781050" y="1714500"/>
            <a:ext cx="83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007B79"/>
                </a:solidFill>
                <a:latin typeface="Arial"/>
                <a:ea typeface="Arial"/>
                <a:cs typeface="Arial"/>
              </a:defRPr>
            </a:pPr>
            <a:r>
              <a:rPr sz="3300" b="1">
                <a:solidFill>
                  <a:srgbClr val="007B7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97D5EC5-B15A-4B20-8BAD-621B690F7201}"/>
              </a:ext>
            </a:extLst>
          </p:cNvPr>
          <p:cNvSpPr>
            <a:spLocks xmlns:a="http://schemas.openxmlformats.org/drawingml/2006/main" noGrp="1"/>
          </p:cNvSpPr>
          <p:nvPr/>
        </p:nvSpPr>
        <p:spPr>
          <a:xfrm xmlns:a="http://schemas.openxmlformats.org/drawingml/2006/main">
            <a:off x="1762125" y="1714500"/>
            <a:ext cx="947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42A3B"/>
                </a:solidFill>
                <a:latin typeface="Arial"/>
                <a:ea typeface="Arial"/>
                <a:cs typeface="Arial"/>
              </a:defRPr>
            </a:pPr>
            <a:r>
              <a:rPr sz="2175" b="1">
                <a:solidFill>
                  <a:srgbClr val="142A3B"/>
                </a:solidFill>
                <a:latin typeface="Arial"/>
                <a:ea typeface="Arial"/>
                <a:cs typeface="Arial"/>
              </a:rPr>
              <a:t>Preprocessing</a:t>
            </a:r>
          </a:p>
        </p:txBody>
      </p:sp>
      <p:sp>
        <p:nvSpPr>
          <p:cNvPr id="5" name="">
            <a:extLst xmlns:a="http://schemas.openxmlformats.org/drawingml/2006/main">
              <a:ext uri="{FF2B5EF4-FFF2-40B4-BE49-F238E27FC236}">
                <a16:creationId xmlns:a16="http://schemas.microsoft.com/office/drawing/2014/main" id="{6C0EC7E1-093F-470C-8CAC-CBA56F5B998B}"/>
              </a:ext>
            </a:extLst>
          </p:cNvPr>
          <p:cNvSpPr>
            <a:spLocks xmlns:a="http://schemas.openxmlformats.org/drawingml/2006/main" noGrp="1"/>
          </p:cNvSpPr>
          <p:nvPr/>
        </p:nvSpPr>
        <p:spPr>
          <a:xfrm xmlns:a="http://schemas.openxmlformats.org/drawingml/2006/main">
            <a:off x="1762125" y="2171700"/>
            <a:ext cx="9477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93345"/>
                </a:solidFill>
                <a:latin typeface="Arial"/>
                <a:ea typeface="Arial"/>
                <a:cs typeface="Arial"/>
              </a:defRPr>
            </a:pPr>
            <a:r>
              <a:rPr sz="1650" b="0">
                <a:solidFill>
                  <a:srgbClr val="193345"/>
                </a:solidFill>
                <a:latin typeface="Arial"/>
                <a:ea typeface="Arial"/>
                <a:cs typeface="Arial"/>
              </a:rPr>
              <a:t>Imputation and one-hot encoding inside each model pipeline</a:t>
            </a:r>
          </a:p>
        </p:txBody>
      </p:sp>
      <p:sp>
        <p:nvSpPr>
          <p:cNvPr id="6" name="">
            <a:extLst xmlns:a="http://schemas.openxmlformats.org/drawingml/2006/main">
              <a:ext uri="{FF2B5EF4-FFF2-40B4-BE49-F238E27FC236}">
                <a16:creationId xmlns:a16="http://schemas.microsoft.com/office/drawing/2014/main" id="{794D1A65-15C0-4FBD-9E16-17BAD4FD64E3}"/>
              </a:ext>
            </a:extLst>
          </p:cNvPr>
          <p:cNvSpPr>
            <a:spLocks xmlns:a="http://schemas.openxmlformats.org/drawingml/2006/main" noGrp="1"/>
          </p:cNvSpPr>
          <p:nvPr/>
        </p:nvSpPr>
        <p:spPr>
          <a:xfrm xmlns:a="http://schemas.openxmlformats.org/drawingml/2006/main">
            <a:off x="781050" y="3171825"/>
            <a:ext cx="83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007B79"/>
                </a:solidFill>
                <a:latin typeface="Arial"/>
                <a:ea typeface="Arial"/>
                <a:cs typeface="Arial"/>
              </a:defRPr>
            </a:pPr>
            <a:r>
              <a:rPr sz="3300" b="1">
                <a:solidFill>
                  <a:srgbClr val="007B79"/>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544B5BF-1A70-439A-9A0E-F9F676240EAD}"/>
              </a:ext>
            </a:extLst>
          </p:cNvPr>
          <p:cNvSpPr>
            <a:spLocks xmlns:a="http://schemas.openxmlformats.org/drawingml/2006/main" noGrp="1"/>
          </p:cNvSpPr>
          <p:nvPr/>
        </p:nvSpPr>
        <p:spPr>
          <a:xfrm xmlns:a="http://schemas.openxmlformats.org/drawingml/2006/main">
            <a:off x="1762125" y="3171825"/>
            <a:ext cx="947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42A3B"/>
                </a:solidFill>
                <a:latin typeface="Arial"/>
                <a:ea typeface="Arial"/>
                <a:cs typeface="Arial"/>
              </a:defRPr>
            </a:pPr>
            <a:r>
              <a:rPr sz="2175" b="1">
                <a:solidFill>
                  <a:srgbClr val="142A3B"/>
                </a:solidFill>
                <a:latin typeface="Arial"/>
                <a:ea typeface="Arial"/>
                <a:cs typeface="Arial"/>
              </a:rPr>
              <a:t>Model selection</a:t>
            </a:r>
          </a:p>
        </p:txBody>
      </p:sp>
      <p:sp>
        <p:nvSpPr>
          <p:cNvPr id="8" name="">
            <a:extLst xmlns:a="http://schemas.openxmlformats.org/drawingml/2006/main">
              <a:ext uri="{FF2B5EF4-FFF2-40B4-BE49-F238E27FC236}">
                <a16:creationId xmlns:a16="http://schemas.microsoft.com/office/drawing/2014/main" id="{185A49A0-75A0-46DD-B49B-63E62A924A21}"/>
              </a:ext>
            </a:extLst>
          </p:cNvPr>
          <p:cNvSpPr>
            <a:spLocks xmlns:a="http://schemas.openxmlformats.org/drawingml/2006/main" noGrp="1"/>
          </p:cNvSpPr>
          <p:nvPr/>
        </p:nvSpPr>
        <p:spPr>
          <a:xfrm xmlns:a="http://schemas.openxmlformats.org/drawingml/2006/main">
            <a:off x="1762125" y="3629025"/>
            <a:ext cx="9477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93345"/>
                </a:solidFill>
                <a:latin typeface="Arial"/>
                <a:ea typeface="Arial"/>
                <a:cs typeface="Arial"/>
              </a:defRPr>
            </a:pPr>
            <a:r>
              <a:rPr sz="1650" b="0">
                <a:solidFill>
                  <a:srgbClr val="193345"/>
                </a:solidFill>
                <a:latin typeface="Arial"/>
                <a:ea typeface="Arial"/>
                <a:cs typeface="Arial"/>
              </a:rPr>
              <a:t>Five-fold validation on training data</a:t>
            </a:r>
          </a:p>
        </p:txBody>
      </p:sp>
      <p:sp>
        <p:nvSpPr>
          <p:cNvPr id="9" name="">
            <a:extLst xmlns:a="http://schemas.openxmlformats.org/drawingml/2006/main">
              <a:ext uri="{FF2B5EF4-FFF2-40B4-BE49-F238E27FC236}">
                <a16:creationId xmlns:a16="http://schemas.microsoft.com/office/drawing/2014/main" id="{EB2099B9-A5CF-4C6D-B000-69AA641AEB84}"/>
              </a:ext>
            </a:extLst>
          </p:cNvPr>
          <p:cNvSpPr>
            <a:spLocks xmlns:a="http://schemas.openxmlformats.org/drawingml/2006/main" noGrp="1"/>
          </p:cNvSpPr>
          <p:nvPr/>
        </p:nvSpPr>
        <p:spPr>
          <a:xfrm xmlns:a="http://schemas.openxmlformats.org/drawingml/2006/main">
            <a:off x="781050" y="52387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5707D"/>
                </a:solidFill>
                <a:latin typeface="Arial"/>
                <a:ea typeface="Arial"/>
                <a:cs typeface="Arial"/>
              </a:defRPr>
            </a:pPr>
            <a:r>
              <a:rPr sz="1350" b="0">
                <a:solidFill>
                  <a:srgbClr val="55707D"/>
                </a:solidFill>
                <a:latin typeface="Arial"/>
                <a:ea typeface="Arial"/>
                <a:cs typeface="Arial"/>
              </a:rPr>
              <a:t>The held-out test set is used once after selection. 23 inputs retained.</a:t>
            </a:r>
          </a:p>
        </p:txBody>
      </p:sp>
    </p:spTree>
    <p:extLst>
      <p:ext uri="{BB962C8B-B14F-4D97-AF65-F5344CB8AC3E}">
        <p14:creationId xmlns:p14="http://schemas.microsoft.com/office/powerpoint/2010/main" val="6536766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CBD770F-220B-4013-9BB5-F563691B838B}"/>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Models compared</a:t>
            </a:r>
          </a:p>
        </p:txBody>
      </p:sp>
      <p:sp>
        <p:nvSpPr>
          <p:cNvPr id="2" name="">
            <a:extLst xmlns:a="http://schemas.openxmlformats.org/drawingml/2006/main">
              <a:ext uri="{FF2B5EF4-FFF2-40B4-BE49-F238E27FC236}">
                <a16:creationId xmlns:a16="http://schemas.microsoft.com/office/drawing/2014/main" id="{E98B3A5F-4E3E-4614-864F-FAFFD23DBFF0}"/>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8 / 12</a:t>
            </a:r>
          </a:p>
        </p:txBody>
      </p:sp>
      <p:sp>
        <p:nvSpPr>
          <p:cNvPr id="3" name="">
            <a:extLst xmlns:a="http://schemas.openxmlformats.org/drawingml/2006/main">
              <a:ext uri="{FF2B5EF4-FFF2-40B4-BE49-F238E27FC236}">
                <a16:creationId xmlns:a16="http://schemas.microsoft.com/office/drawing/2014/main" id="{FFF18042-E974-4707-9C9D-684D8E31C622}"/>
              </a:ext>
            </a:extLst>
          </p:cNvPr>
          <p:cNvSpPr>
            <a:spLocks xmlns:a="http://schemas.openxmlformats.org/drawingml/2006/main" noGrp="1"/>
          </p:cNvSpPr>
          <p:nvPr/>
        </p:nvSpPr>
        <p:spPr>
          <a:xfrm xmlns:a="http://schemas.openxmlformats.org/drawingml/2006/main">
            <a:off x="790575" y="16192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007B79"/>
                </a:solidFill>
                <a:latin typeface="Arial"/>
                <a:ea typeface="Arial"/>
                <a:cs typeface="Arial"/>
              </a:defRPr>
            </a:pPr>
            <a:r>
              <a:rPr sz="2550" b="1">
                <a:solidFill>
                  <a:srgbClr val="007B7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F19F79D-A9A3-4ECD-9DC2-EFF7ACEC7628}"/>
              </a:ext>
            </a:extLst>
          </p:cNvPr>
          <p:cNvSpPr>
            <a:spLocks xmlns:a="http://schemas.openxmlformats.org/drawingml/2006/main" noGrp="1"/>
          </p:cNvSpPr>
          <p:nvPr/>
        </p:nvSpPr>
        <p:spPr>
          <a:xfrm xmlns:a="http://schemas.openxmlformats.org/drawingml/2006/main">
            <a:off x="1676400" y="1619250"/>
            <a:ext cx="847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0">
                <a:solidFill>
                  <a:srgbClr val="142A3B"/>
                </a:solidFill>
                <a:latin typeface="Arial"/>
                <a:ea typeface="Arial"/>
                <a:cs typeface="Arial"/>
              </a:defRPr>
            </a:pPr>
            <a:r>
              <a:rPr sz="2475" b="0">
                <a:solidFill>
                  <a:srgbClr val="142A3B"/>
                </a:solidFill>
                <a:latin typeface="Arial"/>
                <a:ea typeface="Arial"/>
                <a:cs typeface="Arial"/>
              </a:rPr>
              <a:t>Majority-class baseline</a:t>
            </a:r>
          </a:p>
        </p:txBody>
      </p:sp>
      <p:sp>
        <p:nvSpPr>
          <p:cNvPr id="5" name="">
            <a:extLst xmlns:a="http://schemas.openxmlformats.org/drawingml/2006/main">
              <a:ext uri="{FF2B5EF4-FFF2-40B4-BE49-F238E27FC236}">
                <a16:creationId xmlns:a16="http://schemas.microsoft.com/office/drawing/2014/main" id="{0307374F-7792-4C65-BBF8-A6204C7880F8}"/>
              </a:ext>
            </a:extLst>
          </p:cNvPr>
          <p:cNvSpPr>
            <a:spLocks xmlns:a="http://schemas.openxmlformats.org/drawingml/2006/main" noGrp="1"/>
          </p:cNvSpPr>
          <p:nvPr/>
        </p:nvSpPr>
        <p:spPr>
          <a:xfrm xmlns:a="http://schemas.openxmlformats.org/drawingml/2006/main">
            <a:off x="790575" y="26098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007B79"/>
                </a:solidFill>
                <a:latin typeface="Arial"/>
                <a:ea typeface="Arial"/>
                <a:cs typeface="Arial"/>
              </a:defRPr>
            </a:pPr>
            <a:r>
              <a:rPr sz="2550" b="1">
                <a:solidFill>
                  <a:srgbClr val="007B79"/>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830D8A03-6736-4E25-8675-78AAE39752DB}"/>
              </a:ext>
            </a:extLst>
          </p:cNvPr>
          <p:cNvSpPr>
            <a:spLocks xmlns:a="http://schemas.openxmlformats.org/drawingml/2006/main" noGrp="1"/>
          </p:cNvSpPr>
          <p:nvPr/>
        </p:nvSpPr>
        <p:spPr>
          <a:xfrm xmlns:a="http://schemas.openxmlformats.org/drawingml/2006/main">
            <a:off x="1676400" y="2609850"/>
            <a:ext cx="847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42A3B"/>
                </a:solidFill>
                <a:latin typeface="Arial"/>
                <a:ea typeface="Arial"/>
                <a:cs typeface="Arial"/>
              </a:defRPr>
            </a:pPr>
            <a:r>
              <a:rPr sz="2475" b="1">
                <a:solidFill>
                  <a:srgbClr val="142A3B"/>
                </a:solidFill>
                <a:latin typeface="Arial"/>
                <a:ea typeface="Arial"/>
                <a:cs typeface="Arial"/>
              </a:rPr>
              <a:t>Logistic Regression</a:t>
            </a:r>
          </a:p>
        </p:txBody>
      </p:sp>
      <p:sp>
        <p:nvSpPr>
          <p:cNvPr id="7" name="">
            <a:extLst xmlns:a="http://schemas.openxmlformats.org/drawingml/2006/main">
              <a:ext uri="{FF2B5EF4-FFF2-40B4-BE49-F238E27FC236}">
                <a16:creationId xmlns:a16="http://schemas.microsoft.com/office/drawing/2014/main" id="{4B7B17DB-2ED4-4AF8-A1B5-DF5E2FC1DAD1}"/>
              </a:ext>
            </a:extLst>
          </p:cNvPr>
          <p:cNvSpPr>
            <a:spLocks xmlns:a="http://schemas.openxmlformats.org/drawingml/2006/main" noGrp="1"/>
          </p:cNvSpPr>
          <p:nvPr/>
        </p:nvSpPr>
        <p:spPr>
          <a:xfrm xmlns:a="http://schemas.openxmlformats.org/drawingml/2006/main">
            <a:off x="790575" y="36004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007B79"/>
                </a:solidFill>
                <a:latin typeface="Arial"/>
                <a:ea typeface="Arial"/>
                <a:cs typeface="Arial"/>
              </a:defRPr>
            </a:pPr>
            <a:r>
              <a:rPr sz="2550" b="1">
                <a:solidFill>
                  <a:srgbClr val="007B79"/>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C053FE06-0A63-4527-935E-F7296C89E45D}"/>
              </a:ext>
            </a:extLst>
          </p:cNvPr>
          <p:cNvSpPr>
            <a:spLocks xmlns:a="http://schemas.openxmlformats.org/drawingml/2006/main" noGrp="1"/>
          </p:cNvSpPr>
          <p:nvPr/>
        </p:nvSpPr>
        <p:spPr>
          <a:xfrm xmlns:a="http://schemas.openxmlformats.org/drawingml/2006/main">
            <a:off x="1676400" y="3600450"/>
            <a:ext cx="847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42A3B"/>
                </a:solidFill>
                <a:latin typeface="Arial"/>
                <a:ea typeface="Arial"/>
                <a:cs typeface="Arial"/>
              </a:defRPr>
            </a:pPr>
            <a:r>
              <a:rPr sz="2475" b="1">
                <a:solidFill>
                  <a:srgbClr val="142A3B"/>
                </a:solidFill>
                <a:latin typeface="Arial"/>
                <a:ea typeface="Arial"/>
                <a:cs typeface="Arial"/>
              </a:rPr>
              <a:t>Decision Tree</a:t>
            </a:r>
          </a:p>
        </p:txBody>
      </p:sp>
      <p:sp>
        <p:nvSpPr>
          <p:cNvPr id="9" name="">
            <a:extLst xmlns:a="http://schemas.openxmlformats.org/drawingml/2006/main">
              <a:ext uri="{FF2B5EF4-FFF2-40B4-BE49-F238E27FC236}">
                <a16:creationId xmlns:a16="http://schemas.microsoft.com/office/drawing/2014/main" id="{D0334701-5C8C-4B18-9A0D-6FC2D6C97C6A}"/>
              </a:ext>
            </a:extLst>
          </p:cNvPr>
          <p:cNvSpPr>
            <a:spLocks xmlns:a="http://schemas.openxmlformats.org/drawingml/2006/main" noGrp="1"/>
          </p:cNvSpPr>
          <p:nvPr/>
        </p:nvSpPr>
        <p:spPr>
          <a:xfrm xmlns:a="http://schemas.openxmlformats.org/drawingml/2006/main">
            <a:off x="790575" y="45910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007B79"/>
                </a:solidFill>
                <a:latin typeface="Arial"/>
                <a:ea typeface="Arial"/>
                <a:cs typeface="Arial"/>
              </a:defRPr>
            </a:pPr>
            <a:r>
              <a:rPr sz="2550" b="1">
                <a:solidFill>
                  <a:srgbClr val="007B79"/>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0CF028B2-5CCD-4CA1-8418-CE827AE31876}"/>
              </a:ext>
            </a:extLst>
          </p:cNvPr>
          <p:cNvSpPr>
            <a:spLocks xmlns:a="http://schemas.openxmlformats.org/drawingml/2006/main" noGrp="1"/>
          </p:cNvSpPr>
          <p:nvPr/>
        </p:nvSpPr>
        <p:spPr>
          <a:xfrm xmlns:a="http://schemas.openxmlformats.org/drawingml/2006/main">
            <a:off x="1676400" y="4591050"/>
            <a:ext cx="847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42A3B"/>
                </a:solidFill>
                <a:latin typeface="Arial"/>
                <a:ea typeface="Arial"/>
                <a:cs typeface="Arial"/>
              </a:defRPr>
            </a:pPr>
            <a:r>
              <a:rPr sz="2475" b="1">
                <a:solidFill>
                  <a:srgbClr val="142A3B"/>
                </a:solidFill>
                <a:latin typeface="Arial"/>
                <a:ea typeface="Arial"/>
                <a:cs typeface="Arial"/>
              </a:rPr>
              <a:t>Random Forest</a:t>
            </a:r>
          </a:p>
        </p:txBody>
      </p:sp>
      <p:sp>
        <p:nvSpPr>
          <p:cNvPr id="11" name="">
            <a:extLst xmlns:a="http://schemas.openxmlformats.org/drawingml/2006/main">
              <a:ext uri="{FF2B5EF4-FFF2-40B4-BE49-F238E27FC236}">
                <a16:creationId xmlns:a16="http://schemas.microsoft.com/office/drawing/2014/main" id="{6EB817A8-72F6-4B18-BEFF-A9A1F966F536}"/>
              </a:ext>
            </a:extLst>
          </p:cNvPr>
          <p:cNvSpPr>
            <a:spLocks xmlns:a="http://schemas.openxmlformats.org/drawingml/2006/main" noGrp="1"/>
          </p:cNvSpPr>
          <p:nvPr/>
        </p:nvSpPr>
        <p:spPr>
          <a:xfrm xmlns:a="http://schemas.openxmlformats.org/drawingml/2006/main">
            <a:off x="781050" y="5924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5707D"/>
                </a:solidFill>
                <a:latin typeface="Arial"/>
                <a:ea typeface="Arial"/>
                <a:cs typeface="Arial"/>
              </a:defRPr>
            </a:pPr>
            <a:r>
              <a:rPr sz="1350" b="0">
                <a:solidFill>
                  <a:srgbClr val="55707D"/>
                </a:solidFill>
                <a:latin typeface="Arial"/>
                <a:ea typeface="Arial"/>
                <a:cs typeface="Arial"/>
              </a:rPr>
              <a:t>Select by validation F1-score, with ROC-AUC as the tie-breaker.</a:t>
            </a:r>
          </a:p>
        </p:txBody>
      </p:sp>
    </p:spTree>
    <p:extLst>
      <p:ext uri="{BB962C8B-B14F-4D97-AF65-F5344CB8AC3E}">
        <p14:creationId xmlns:p14="http://schemas.microsoft.com/office/powerpoint/2010/main" val="104553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8964F3-C5AB-44D8-857E-CEB32432E89D}"/>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Cross-validation comparison</a:t>
            </a:r>
          </a:p>
        </p:txBody>
      </p:sp>
      <p:sp>
        <p:nvSpPr>
          <p:cNvPr id="2" name="">
            <a:extLst xmlns:a="http://schemas.openxmlformats.org/drawingml/2006/main">
              <a:ext uri="{FF2B5EF4-FFF2-40B4-BE49-F238E27FC236}">
                <a16:creationId xmlns:a16="http://schemas.microsoft.com/office/drawing/2014/main" id="{7EED192A-FBA9-46FB-AE67-1F748EB65650}"/>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9 / 12</a:t>
            </a:r>
          </a:p>
        </p:txBody>
      </p:sp>
      <p:graphicFrame>
        <p:nvGraphicFramePr>
          <p:cNvPr id="7" name="Chart"/>
          <p:cNvGraphicFramePr/>
          <p:nvPr/>
        </p:nvGraphicFramePr>
        <p:xfrm>
          <a:off xmlns:a="http://schemas.openxmlformats.org/drawingml/2006/main" x="1066800" y="1647825"/>
          <a:ext xmlns:a="http://schemas.openxmlformats.org/drawingml/2006/main" cx="9715500" cy="4048125"/>
        </p:xfrm>
        <a:graphic xmlns:a="http://schemas.openxmlformats.org/drawingml/2006/main">
          <a:graphicData uri="http://schemas.openxmlformats.org/drawingml/2006/chart">
            <c:chart xmlns:r="http://schemas.openxmlformats.org/officeDocument/2006/relationships" xmlns:c="http://schemas.openxmlformats.org/drawingml/2006/chart" r:id="Rdf6b98fec8644696"/>
          </a:graphicData>
        </a:graphic>
      </p:graphicFrame>
      <p:sp>
        <p:nvSpPr>
          <p:cNvPr id="4" name="">
            <a:extLst xmlns:a="http://schemas.openxmlformats.org/drawingml/2006/main">
              <a:ext uri="{FF2B5EF4-FFF2-40B4-BE49-F238E27FC236}">
                <a16:creationId xmlns:a16="http://schemas.microsoft.com/office/drawing/2014/main" id="{B9A31A9A-E38E-4C1D-ACFD-542D6FB4CD12}"/>
              </a:ext>
            </a:extLst>
          </p:cNvPr>
          <p:cNvSpPr>
            <a:spLocks xmlns:a="http://schemas.openxmlformats.org/drawingml/2006/main" noGrp="1"/>
          </p:cNvSpPr>
          <p:nvPr/>
        </p:nvSpPr>
        <p:spPr>
          <a:xfrm xmlns:a="http://schemas.openxmlformats.org/drawingml/2006/main">
            <a:off x="781050" y="5905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5707D"/>
                </a:solidFill>
                <a:latin typeface="Arial"/>
                <a:ea typeface="Arial"/>
                <a:cs typeface="Arial"/>
              </a:defRPr>
            </a:pPr>
            <a:r>
              <a:rPr sz="1350" b="0">
                <a:solidFill>
                  <a:srgbClr val="55707D"/>
                </a:solidFill>
                <a:latin typeface="Arial"/>
                <a:ea typeface="Arial"/>
                <a:cs typeface="Arial"/>
              </a:rPr>
              <a:t>Mean five-fold F1 (%). Selected: Random Forest</a:t>
            </a:r>
          </a:p>
        </p:txBody>
      </p:sp>
    </p:spTree>
    <p:extLst>
      <p:ext uri="{BB962C8B-B14F-4D97-AF65-F5344CB8AC3E}">
        <p14:creationId xmlns:p14="http://schemas.microsoft.com/office/powerpoint/2010/main" val="16355746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139336B-2F90-4CEC-AF58-98EE5BA772BC}"/>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Held-out test performance</a:t>
            </a:r>
          </a:p>
        </p:txBody>
      </p:sp>
      <p:sp>
        <p:nvSpPr>
          <p:cNvPr id="2" name="">
            <a:extLst xmlns:a="http://schemas.openxmlformats.org/drawingml/2006/main">
              <a:ext uri="{FF2B5EF4-FFF2-40B4-BE49-F238E27FC236}">
                <a16:creationId xmlns:a16="http://schemas.microsoft.com/office/drawing/2014/main" id="{F0E0B71F-2C96-4A25-A4E8-DECD7C12056C}"/>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10 / 12</a:t>
            </a:r>
          </a:p>
        </p:txBody>
      </p:sp>
      <p:sp>
        <p:nvSpPr>
          <p:cNvPr id="3" name="">
            <a:extLst xmlns:a="http://schemas.openxmlformats.org/drawingml/2006/main">
              <a:ext uri="{FF2B5EF4-FFF2-40B4-BE49-F238E27FC236}">
                <a16:creationId xmlns:a16="http://schemas.microsoft.com/office/drawing/2014/main" id="{8F63A405-5BDE-4E05-85CC-D03F5A4883B3}"/>
              </a:ext>
            </a:extLst>
          </p:cNvPr>
          <p:cNvSpPr>
            <a:spLocks xmlns:a="http://schemas.openxmlformats.org/drawingml/2006/main" noGrp="1"/>
          </p:cNvSpPr>
          <p:nvPr/>
        </p:nvSpPr>
        <p:spPr>
          <a:xfrm xmlns:a="http://schemas.openxmlformats.org/drawingml/2006/main">
            <a:off x="781050" y="1438275"/>
            <a:ext cx="1019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007B79"/>
                </a:solidFill>
                <a:latin typeface="Arial"/>
                <a:ea typeface="Arial"/>
                <a:cs typeface="Arial"/>
              </a:defRPr>
            </a:pPr>
            <a:r>
              <a:rPr sz="2625" b="1">
                <a:solidFill>
                  <a:srgbClr val="007B79"/>
                </a:solidFill>
                <a:latin typeface="Arial"/>
                <a:ea typeface="Arial"/>
                <a:cs typeface="Arial"/>
              </a:rPr>
              <a:t>Random Forest</a:t>
            </a:r>
          </a:p>
        </p:txBody>
      </p:sp>
      <p:sp>
        <p:nvSpPr>
          <p:cNvPr id="4" name="">
            <a:extLst xmlns:a="http://schemas.openxmlformats.org/drawingml/2006/main">
              <a:ext uri="{FF2B5EF4-FFF2-40B4-BE49-F238E27FC236}">
                <a16:creationId xmlns:a16="http://schemas.microsoft.com/office/drawing/2014/main" id="{74C022B0-C5D4-4B71-82CA-5F079DA7EAE8}"/>
              </a:ext>
            </a:extLst>
          </p:cNvPr>
          <p:cNvSpPr>
            <a:spLocks xmlns:a="http://schemas.openxmlformats.org/drawingml/2006/main" noGrp="1"/>
          </p:cNvSpPr>
          <p:nvPr/>
        </p:nvSpPr>
        <p:spPr>
          <a:xfrm xmlns:a="http://schemas.openxmlformats.org/drawingml/2006/main">
            <a:off x="781050" y="26670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5707D"/>
                </a:solidFill>
                <a:latin typeface="Arial"/>
                <a:ea typeface="Arial"/>
                <a:cs typeface="Arial"/>
              </a:defRPr>
            </a:pPr>
            <a:r>
              <a:rPr sz="1650" b="0">
                <a:solidFill>
                  <a:srgbClr val="55707D"/>
                </a:solidFill>
                <a:latin typeface="Arial"/>
                <a:ea typeface="Arial"/>
                <a:cs typeface="Arial"/>
              </a:rPr>
              <a:t>Accuracy</a:t>
            </a:r>
          </a:p>
        </p:txBody>
      </p:sp>
      <p:sp>
        <p:nvSpPr>
          <p:cNvPr id="5" name="">
            <a:extLst xmlns:a="http://schemas.openxmlformats.org/drawingml/2006/main">
              <a:ext uri="{FF2B5EF4-FFF2-40B4-BE49-F238E27FC236}">
                <a16:creationId xmlns:a16="http://schemas.microsoft.com/office/drawing/2014/main" id="{BF63A3BB-5C4B-4D7B-BECC-416081ACBC12}"/>
              </a:ext>
            </a:extLst>
          </p:cNvPr>
          <p:cNvSpPr>
            <a:spLocks xmlns:a="http://schemas.openxmlformats.org/drawingml/2006/main" noGrp="1"/>
          </p:cNvSpPr>
          <p:nvPr/>
        </p:nvSpPr>
        <p:spPr>
          <a:xfrm xmlns:a="http://schemas.openxmlformats.org/drawingml/2006/main">
            <a:off x="781050" y="3057525"/>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142A3B"/>
                </a:solidFill>
                <a:latin typeface="Arial"/>
                <a:ea typeface="Arial"/>
                <a:cs typeface="Arial"/>
              </a:defRPr>
            </a:pPr>
            <a:r>
              <a:rPr sz="3450" b="1">
                <a:solidFill>
                  <a:srgbClr val="142A3B"/>
                </a:solidFill>
                <a:latin typeface="Arial"/>
                <a:ea typeface="Arial"/>
                <a:cs typeface="Arial"/>
              </a:rPr>
              <a:t>76.7%</a:t>
            </a:r>
          </a:p>
        </p:txBody>
      </p:sp>
      <p:sp>
        <p:nvSpPr>
          <p:cNvPr id="6" name="">
            <a:extLst xmlns:a="http://schemas.openxmlformats.org/drawingml/2006/main">
              <a:ext uri="{FF2B5EF4-FFF2-40B4-BE49-F238E27FC236}">
                <a16:creationId xmlns:a16="http://schemas.microsoft.com/office/drawing/2014/main" id="{03F75B6B-9DBA-4514-A132-946672E2790C}"/>
              </a:ext>
            </a:extLst>
          </p:cNvPr>
          <p:cNvSpPr>
            <a:spLocks xmlns:a="http://schemas.openxmlformats.org/drawingml/2006/main" noGrp="1"/>
          </p:cNvSpPr>
          <p:nvPr/>
        </p:nvSpPr>
        <p:spPr>
          <a:xfrm xmlns:a="http://schemas.openxmlformats.org/drawingml/2006/main">
            <a:off x="4495800" y="26670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5707D"/>
                </a:solidFill>
                <a:latin typeface="Arial"/>
                <a:ea typeface="Arial"/>
                <a:cs typeface="Arial"/>
              </a:defRPr>
            </a:pPr>
            <a:r>
              <a:rPr sz="1650" b="0">
                <a:solidFill>
                  <a:srgbClr val="55707D"/>
                </a:solidFill>
                <a:latin typeface="Arial"/>
                <a:ea typeface="Arial"/>
                <a:cs typeface="Arial"/>
              </a:rPr>
              <a:t>Precision</a:t>
            </a:r>
          </a:p>
        </p:txBody>
      </p:sp>
      <p:sp>
        <p:nvSpPr>
          <p:cNvPr id="7" name="">
            <a:extLst xmlns:a="http://schemas.openxmlformats.org/drawingml/2006/main">
              <a:ext uri="{FF2B5EF4-FFF2-40B4-BE49-F238E27FC236}">
                <a16:creationId xmlns:a16="http://schemas.microsoft.com/office/drawing/2014/main" id="{F08AF4E2-0414-432C-92AA-980FC1FC79D3}"/>
              </a:ext>
            </a:extLst>
          </p:cNvPr>
          <p:cNvSpPr>
            <a:spLocks xmlns:a="http://schemas.openxmlformats.org/drawingml/2006/main" noGrp="1"/>
          </p:cNvSpPr>
          <p:nvPr/>
        </p:nvSpPr>
        <p:spPr>
          <a:xfrm xmlns:a="http://schemas.openxmlformats.org/drawingml/2006/main">
            <a:off x="4495800" y="3057525"/>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142A3B"/>
                </a:solidFill>
                <a:latin typeface="Arial"/>
                <a:ea typeface="Arial"/>
                <a:cs typeface="Arial"/>
              </a:defRPr>
            </a:pPr>
            <a:r>
              <a:rPr sz="3450" b="1">
                <a:solidFill>
                  <a:srgbClr val="142A3B"/>
                </a:solidFill>
                <a:latin typeface="Arial"/>
                <a:ea typeface="Arial"/>
                <a:cs typeface="Arial"/>
              </a:rPr>
              <a:t>76.4%</a:t>
            </a:r>
          </a:p>
        </p:txBody>
      </p:sp>
      <p:sp>
        <p:nvSpPr>
          <p:cNvPr id="8" name="">
            <a:extLst xmlns:a="http://schemas.openxmlformats.org/drawingml/2006/main">
              <a:ext uri="{FF2B5EF4-FFF2-40B4-BE49-F238E27FC236}">
                <a16:creationId xmlns:a16="http://schemas.microsoft.com/office/drawing/2014/main" id="{AD836F30-33F4-4AF7-ABD2-76C0A3718C62}"/>
              </a:ext>
            </a:extLst>
          </p:cNvPr>
          <p:cNvSpPr>
            <a:spLocks xmlns:a="http://schemas.openxmlformats.org/drawingml/2006/main" noGrp="1"/>
          </p:cNvSpPr>
          <p:nvPr/>
        </p:nvSpPr>
        <p:spPr>
          <a:xfrm xmlns:a="http://schemas.openxmlformats.org/drawingml/2006/main">
            <a:off x="8210550" y="26670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5707D"/>
                </a:solidFill>
                <a:latin typeface="Arial"/>
                <a:ea typeface="Arial"/>
                <a:cs typeface="Arial"/>
              </a:defRPr>
            </a:pPr>
            <a:r>
              <a:rPr sz="1650" b="0">
                <a:solidFill>
                  <a:srgbClr val="55707D"/>
                </a:solidFill>
                <a:latin typeface="Arial"/>
                <a:ea typeface="Arial"/>
                <a:cs typeface="Arial"/>
              </a:rPr>
              <a:t>Recall</a:t>
            </a:r>
          </a:p>
        </p:txBody>
      </p:sp>
      <p:sp>
        <p:nvSpPr>
          <p:cNvPr id="9" name="">
            <a:extLst xmlns:a="http://schemas.openxmlformats.org/drawingml/2006/main">
              <a:ext uri="{FF2B5EF4-FFF2-40B4-BE49-F238E27FC236}">
                <a16:creationId xmlns:a16="http://schemas.microsoft.com/office/drawing/2014/main" id="{358454FF-FA3A-4DAF-A547-95BB0160DABD}"/>
              </a:ext>
            </a:extLst>
          </p:cNvPr>
          <p:cNvSpPr>
            <a:spLocks xmlns:a="http://schemas.openxmlformats.org/drawingml/2006/main" noGrp="1"/>
          </p:cNvSpPr>
          <p:nvPr/>
        </p:nvSpPr>
        <p:spPr>
          <a:xfrm xmlns:a="http://schemas.openxmlformats.org/drawingml/2006/main">
            <a:off x="8210550" y="3057525"/>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142A3B"/>
                </a:solidFill>
                <a:latin typeface="Arial"/>
                <a:ea typeface="Arial"/>
                <a:cs typeface="Arial"/>
              </a:defRPr>
            </a:pPr>
            <a:r>
              <a:rPr sz="3450" b="1">
                <a:solidFill>
                  <a:srgbClr val="142A3B"/>
                </a:solidFill>
                <a:latin typeface="Arial"/>
                <a:ea typeface="Arial"/>
                <a:cs typeface="Arial"/>
              </a:rPr>
              <a:t>85.4%</a:t>
            </a:r>
          </a:p>
        </p:txBody>
      </p:sp>
      <p:sp>
        <p:nvSpPr>
          <p:cNvPr id="10" name="">
            <a:extLst xmlns:a="http://schemas.openxmlformats.org/drawingml/2006/main">
              <a:ext uri="{FF2B5EF4-FFF2-40B4-BE49-F238E27FC236}">
                <a16:creationId xmlns:a16="http://schemas.microsoft.com/office/drawing/2014/main" id="{7B2834E3-8367-4750-9313-6EFEABAC7663}"/>
              </a:ext>
            </a:extLst>
          </p:cNvPr>
          <p:cNvSpPr>
            <a:spLocks xmlns:a="http://schemas.openxmlformats.org/drawingml/2006/main" noGrp="1"/>
          </p:cNvSpPr>
          <p:nvPr/>
        </p:nvSpPr>
        <p:spPr>
          <a:xfrm xmlns:a="http://schemas.openxmlformats.org/drawingml/2006/main">
            <a:off x="781050" y="40481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5707D"/>
                </a:solidFill>
                <a:latin typeface="Arial"/>
                <a:ea typeface="Arial"/>
                <a:cs typeface="Arial"/>
              </a:defRPr>
            </a:pPr>
            <a:r>
              <a:rPr sz="1650" b="0">
                <a:solidFill>
                  <a:srgbClr val="55707D"/>
                </a:solidFill>
                <a:latin typeface="Arial"/>
                <a:ea typeface="Arial"/>
                <a:cs typeface="Arial"/>
              </a:rPr>
              <a:t>F1-score</a:t>
            </a:r>
          </a:p>
        </p:txBody>
      </p:sp>
      <p:sp>
        <p:nvSpPr>
          <p:cNvPr id="11" name="">
            <a:extLst xmlns:a="http://schemas.openxmlformats.org/drawingml/2006/main">
              <a:ext uri="{FF2B5EF4-FFF2-40B4-BE49-F238E27FC236}">
                <a16:creationId xmlns:a16="http://schemas.microsoft.com/office/drawing/2014/main" id="{2A4CDE6C-6393-428A-8CCF-CA3A55C9F106}"/>
              </a:ext>
            </a:extLst>
          </p:cNvPr>
          <p:cNvSpPr>
            <a:spLocks xmlns:a="http://schemas.openxmlformats.org/drawingml/2006/main" noGrp="1"/>
          </p:cNvSpPr>
          <p:nvPr/>
        </p:nvSpPr>
        <p:spPr>
          <a:xfrm xmlns:a="http://schemas.openxmlformats.org/drawingml/2006/main">
            <a:off x="781050" y="443865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142A3B"/>
                </a:solidFill>
                <a:latin typeface="Arial"/>
                <a:ea typeface="Arial"/>
                <a:cs typeface="Arial"/>
              </a:defRPr>
            </a:pPr>
            <a:r>
              <a:rPr sz="3450" b="1">
                <a:solidFill>
                  <a:srgbClr val="142A3B"/>
                </a:solidFill>
                <a:latin typeface="Arial"/>
                <a:ea typeface="Arial"/>
                <a:cs typeface="Arial"/>
              </a:rPr>
              <a:t>80.6%</a:t>
            </a:r>
          </a:p>
        </p:txBody>
      </p:sp>
      <p:sp>
        <p:nvSpPr>
          <p:cNvPr id="12" name="">
            <a:extLst xmlns:a="http://schemas.openxmlformats.org/drawingml/2006/main">
              <a:ext uri="{FF2B5EF4-FFF2-40B4-BE49-F238E27FC236}">
                <a16:creationId xmlns:a16="http://schemas.microsoft.com/office/drawing/2014/main" id="{213D79E4-D458-48E0-9EF2-9F27DADC3C4B}"/>
              </a:ext>
            </a:extLst>
          </p:cNvPr>
          <p:cNvSpPr>
            <a:spLocks xmlns:a="http://schemas.openxmlformats.org/drawingml/2006/main" noGrp="1"/>
          </p:cNvSpPr>
          <p:nvPr/>
        </p:nvSpPr>
        <p:spPr>
          <a:xfrm xmlns:a="http://schemas.openxmlformats.org/drawingml/2006/main">
            <a:off x="4495800" y="40481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5707D"/>
                </a:solidFill>
                <a:latin typeface="Arial"/>
                <a:ea typeface="Arial"/>
                <a:cs typeface="Arial"/>
              </a:defRPr>
            </a:pPr>
            <a:r>
              <a:rPr sz="1650" b="0">
                <a:solidFill>
                  <a:srgbClr val="55707D"/>
                </a:solidFill>
                <a:latin typeface="Arial"/>
                <a:ea typeface="Arial"/>
                <a:cs typeface="Arial"/>
              </a:rPr>
              <a:t>ROC-AUC</a:t>
            </a:r>
          </a:p>
        </p:txBody>
      </p:sp>
      <p:sp>
        <p:nvSpPr>
          <p:cNvPr id="13" name="">
            <a:extLst xmlns:a="http://schemas.openxmlformats.org/drawingml/2006/main">
              <a:ext uri="{FF2B5EF4-FFF2-40B4-BE49-F238E27FC236}">
                <a16:creationId xmlns:a16="http://schemas.microsoft.com/office/drawing/2014/main" id="{0ED9D2E8-1868-430D-832C-4C512CDCE500}"/>
              </a:ext>
            </a:extLst>
          </p:cNvPr>
          <p:cNvSpPr>
            <a:spLocks xmlns:a="http://schemas.openxmlformats.org/drawingml/2006/main" noGrp="1"/>
          </p:cNvSpPr>
          <p:nvPr/>
        </p:nvSpPr>
        <p:spPr>
          <a:xfrm xmlns:a="http://schemas.openxmlformats.org/drawingml/2006/main">
            <a:off x="4495800" y="443865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142A3B"/>
                </a:solidFill>
                <a:latin typeface="Arial"/>
                <a:ea typeface="Arial"/>
                <a:cs typeface="Arial"/>
              </a:defRPr>
            </a:pPr>
            <a:r>
              <a:rPr sz="3450" b="1">
                <a:solidFill>
                  <a:srgbClr val="142A3B"/>
                </a:solidFill>
                <a:latin typeface="Arial"/>
                <a:ea typeface="Arial"/>
                <a:cs typeface="Arial"/>
              </a:rPr>
              <a:t>83.7%</a:t>
            </a:r>
          </a:p>
        </p:txBody>
      </p:sp>
      <p:sp>
        <p:nvSpPr>
          <p:cNvPr id="14" name="">
            <a:extLst xmlns:a="http://schemas.openxmlformats.org/drawingml/2006/main">
              <a:ext uri="{FF2B5EF4-FFF2-40B4-BE49-F238E27FC236}">
                <a16:creationId xmlns:a16="http://schemas.microsoft.com/office/drawing/2014/main" id="{9CE8B62B-331A-4FCC-8501-49839E54D833}"/>
              </a:ext>
            </a:extLst>
          </p:cNvPr>
          <p:cNvSpPr>
            <a:spLocks xmlns:a="http://schemas.openxmlformats.org/drawingml/2006/main" noGrp="1"/>
          </p:cNvSpPr>
          <p:nvPr/>
        </p:nvSpPr>
        <p:spPr>
          <a:xfrm xmlns:a="http://schemas.openxmlformats.org/drawingml/2006/main">
            <a:off x="781050" y="58007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5707D"/>
                </a:solidFill>
                <a:latin typeface="Arial"/>
                <a:ea typeface="Arial"/>
                <a:cs typeface="Arial"/>
              </a:defRPr>
            </a:pPr>
            <a:r>
              <a:rPr sz="1350" b="0">
                <a:solidFill>
                  <a:srgbClr val="55707D"/>
                </a:solidFill>
                <a:latin typeface="Arial"/>
                <a:ea typeface="Arial"/>
                <a:cs typeface="Arial"/>
              </a:rPr>
              <a:t>Confusion matrix: TN 713   FP 381   FN 211   TP 1,231</a:t>
            </a:r>
          </a:p>
        </p:txBody>
      </p:sp>
    </p:spTree>
    <p:extLst>
      <p:ext uri="{BB962C8B-B14F-4D97-AF65-F5344CB8AC3E}">
        <p14:creationId xmlns:p14="http://schemas.microsoft.com/office/powerpoint/2010/main" val="17591887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DE0A36-2126-4AE2-B6C3-D6702D498C05}"/>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Interpretation and limits</a:t>
            </a:r>
          </a:p>
        </p:txBody>
      </p:sp>
      <p:sp>
        <p:nvSpPr>
          <p:cNvPr id="2" name="">
            <a:extLst xmlns:a="http://schemas.openxmlformats.org/drawingml/2006/main">
              <a:ext uri="{FF2B5EF4-FFF2-40B4-BE49-F238E27FC236}">
                <a16:creationId xmlns:a16="http://schemas.microsoft.com/office/drawing/2014/main" id="{9B3530BB-7F60-4D98-8842-9F14A5068D72}"/>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11 / 12</a:t>
            </a:r>
          </a:p>
        </p:txBody>
      </p:sp>
      <p:sp>
        <p:nvSpPr>
          <p:cNvPr id="3" name="">
            <a:extLst xmlns:a="http://schemas.openxmlformats.org/drawingml/2006/main">
              <a:ext uri="{FF2B5EF4-FFF2-40B4-BE49-F238E27FC236}">
                <a16:creationId xmlns:a16="http://schemas.microsoft.com/office/drawing/2014/main" id="{4BF13FFA-30D2-4091-AF9A-885D4383E88C}"/>
              </a:ext>
            </a:extLst>
          </p:cNvPr>
          <p:cNvSpPr>
            <a:spLocks xmlns:a="http://schemas.openxmlformats.org/drawingml/2006/main" noGrp="1"/>
          </p:cNvSpPr>
          <p:nvPr/>
        </p:nvSpPr>
        <p:spPr>
          <a:xfrm xmlns:a="http://schemas.openxmlformats.org/drawingml/2006/main">
            <a:off x="781050" y="16573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42A3B"/>
                </a:solidFill>
                <a:latin typeface="Arial"/>
                <a:ea typeface="Arial"/>
                <a:cs typeface="Arial"/>
              </a:defRPr>
            </a:pPr>
            <a:r>
              <a:rPr sz="2025" b="1">
                <a:solidFill>
                  <a:srgbClr val="142A3B"/>
                </a:solidFill>
                <a:latin typeface="Arial"/>
                <a:ea typeface="Arial"/>
                <a:cs typeface="Arial"/>
              </a:rPr>
              <a:t>Most informative inputs</a:t>
            </a:r>
          </a:p>
        </p:txBody>
      </p:sp>
      <p:sp>
        <p:nvSpPr>
          <p:cNvPr id="4" name="">
            <a:extLst xmlns:a="http://schemas.openxmlformats.org/drawingml/2006/main">
              <a:ext uri="{FF2B5EF4-FFF2-40B4-BE49-F238E27FC236}">
                <a16:creationId xmlns:a16="http://schemas.microsoft.com/office/drawing/2014/main" id="{40BAA2A4-3163-4B85-B93E-10598BF73904}"/>
              </a:ext>
            </a:extLst>
          </p:cNvPr>
          <p:cNvSpPr>
            <a:spLocks xmlns:a="http://schemas.openxmlformats.org/drawingml/2006/main" noGrp="1"/>
          </p:cNvSpPr>
          <p:nvPr/>
        </p:nvSpPr>
        <p:spPr>
          <a:xfrm xmlns:a="http://schemas.openxmlformats.org/drawingml/2006/main">
            <a:off x="781050" y="23622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93345"/>
                </a:solidFill>
                <a:latin typeface="Arial"/>
                <a:ea typeface="Arial"/>
                <a:cs typeface="Arial"/>
              </a:defRPr>
            </a:pPr>
            <a:r>
              <a:rPr sz="2025" b="0">
                <a:solidFill>
                  <a:srgbClr val="193345"/>
                </a:solidFill>
                <a:latin typeface="Arial"/>
                <a:ea typeface="Arial"/>
                <a:cs typeface="Arial"/>
              </a:rPr>
              <a:t>1. coupon</a:t>
            </a:r>
          </a:p>
        </p:txBody>
      </p:sp>
      <p:sp>
        <p:nvSpPr>
          <p:cNvPr id="5" name="">
            <a:extLst xmlns:a="http://schemas.openxmlformats.org/drawingml/2006/main">
              <a:ext uri="{FF2B5EF4-FFF2-40B4-BE49-F238E27FC236}">
                <a16:creationId xmlns:a16="http://schemas.microsoft.com/office/drawing/2014/main" id="{C0AA1943-0A4B-43DA-9CA8-DB1AA6B4D3F5}"/>
              </a:ext>
            </a:extLst>
          </p:cNvPr>
          <p:cNvSpPr>
            <a:spLocks xmlns:a="http://schemas.openxmlformats.org/drawingml/2006/main" noGrp="1"/>
          </p:cNvSpPr>
          <p:nvPr/>
        </p:nvSpPr>
        <p:spPr>
          <a:xfrm xmlns:a="http://schemas.openxmlformats.org/drawingml/2006/main">
            <a:off x="781050" y="3057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93345"/>
                </a:solidFill>
                <a:latin typeface="Arial"/>
                <a:ea typeface="Arial"/>
                <a:cs typeface="Arial"/>
              </a:defRPr>
            </a:pPr>
            <a:r>
              <a:rPr sz="2025" b="0">
                <a:solidFill>
                  <a:srgbClr val="193345"/>
                </a:solidFill>
                <a:latin typeface="Arial"/>
                <a:ea typeface="Arial"/>
                <a:cs typeface="Arial"/>
              </a:rPr>
              <a:t>2. CoffeeHouse</a:t>
            </a:r>
          </a:p>
        </p:txBody>
      </p:sp>
      <p:sp>
        <p:nvSpPr>
          <p:cNvPr id="6" name="">
            <a:extLst xmlns:a="http://schemas.openxmlformats.org/drawingml/2006/main">
              <a:ext uri="{FF2B5EF4-FFF2-40B4-BE49-F238E27FC236}">
                <a16:creationId xmlns:a16="http://schemas.microsoft.com/office/drawing/2014/main" id="{5E01F66F-BC32-4E7F-ABC9-04C1E3C32AC3}"/>
              </a:ext>
            </a:extLst>
          </p:cNvPr>
          <p:cNvSpPr>
            <a:spLocks xmlns:a="http://schemas.openxmlformats.org/drawingml/2006/main" noGrp="1"/>
          </p:cNvSpPr>
          <p:nvPr/>
        </p:nvSpPr>
        <p:spPr>
          <a:xfrm xmlns:a="http://schemas.openxmlformats.org/drawingml/2006/main">
            <a:off x="781050" y="3752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93345"/>
                </a:solidFill>
                <a:latin typeface="Arial"/>
                <a:ea typeface="Arial"/>
                <a:cs typeface="Arial"/>
              </a:defRPr>
            </a:pPr>
            <a:r>
              <a:rPr sz="2025" b="0">
                <a:solidFill>
                  <a:srgbClr val="193345"/>
                </a:solidFill>
                <a:latin typeface="Arial"/>
                <a:ea typeface="Arial"/>
                <a:cs typeface="Arial"/>
              </a:rPr>
              <a:t>3. expiration</a:t>
            </a:r>
          </a:p>
        </p:txBody>
      </p:sp>
      <p:sp>
        <p:nvSpPr>
          <p:cNvPr id="7" name="">
            <a:extLst xmlns:a="http://schemas.openxmlformats.org/drawingml/2006/main">
              <a:ext uri="{FF2B5EF4-FFF2-40B4-BE49-F238E27FC236}">
                <a16:creationId xmlns:a16="http://schemas.microsoft.com/office/drawing/2014/main" id="{3B7639AD-0FE6-424D-9AF2-54F2789D6D9C}"/>
              </a:ext>
            </a:extLst>
          </p:cNvPr>
          <p:cNvSpPr>
            <a:spLocks xmlns:a="http://schemas.openxmlformats.org/drawingml/2006/main" noGrp="1"/>
          </p:cNvSpPr>
          <p:nvPr/>
        </p:nvSpPr>
        <p:spPr>
          <a:xfrm xmlns:a="http://schemas.openxmlformats.org/drawingml/2006/main">
            <a:off x="781050" y="44481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93345"/>
                </a:solidFill>
                <a:latin typeface="Arial"/>
                <a:ea typeface="Arial"/>
                <a:cs typeface="Arial"/>
              </a:defRPr>
            </a:pPr>
            <a:r>
              <a:rPr sz="2025" b="0">
                <a:solidFill>
                  <a:srgbClr val="193345"/>
                </a:solidFill>
                <a:latin typeface="Arial"/>
                <a:ea typeface="Arial"/>
                <a:cs typeface="Arial"/>
              </a:rPr>
              <a:t>4. Bar</a:t>
            </a:r>
          </a:p>
        </p:txBody>
      </p:sp>
      <p:sp>
        <p:nvSpPr>
          <p:cNvPr id="8" name="">
            <a:extLst xmlns:a="http://schemas.openxmlformats.org/drawingml/2006/main">
              <a:ext uri="{FF2B5EF4-FFF2-40B4-BE49-F238E27FC236}">
                <a16:creationId xmlns:a16="http://schemas.microsoft.com/office/drawing/2014/main" id="{80328AB1-383D-4714-A4CA-08BB36554893}"/>
              </a:ext>
            </a:extLst>
          </p:cNvPr>
          <p:cNvSpPr>
            <a:spLocks xmlns:a="http://schemas.openxmlformats.org/drawingml/2006/main" noGrp="1"/>
          </p:cNvSpPr>
          <p:nvPr/>
        </p:nvSpPr>
        <p:spPr>
          <a:xfrm xmlns:a="http://schemas.openxmlformats.org/drawingml/2006/main">
            <a:off x="781050" y="51244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07B79"/>
                </a:solidFill>
                <a:latin typeface="Arial"/>
                <a:ea typeface="Arial"/>
                <a:cs typeface="Arial"/>
              </a:defRPr>
            </a:pPr>
            <a:r>
              <a:rPr sz="2025" b="1">
                <a:solidFill>
                  <a:srgbClr val="007B79"/>
                </a:solidFill>
                <a:latin typeface="Arial"/>
                <a:ea typeface="Arial"/>
                <a:cs typeface="Arial"/>
              </a:rPr>
              <a:t>Train F1 96.3% vs validation F1 79.1%</a:t>
            </a:r>
          </a:p>
        </p:txBody>
      </p:sp>
      <p:sp>
        <p:nvSpPr>
          <p:cNvPr id="9" name="">
            <a:extLst xmlns:a="http://schemas.openxmlformats.org/drawingml/2006/main">
              <a:ext uri="{FF2B5EF4-FFF2-40B4-BE49-F238E27FC236}">
                <a16:creationId xmlns:a16="http://schemas.microsoft.com/office/drawing/2014/main" id="{24F45BBB-0E2B-4D26-BC55-35BF51493536}"/>
              </a:ext>
            </a:extLst>
          </p:cNvPr>
          <p:cNvSpPr>
            <a:spLocks xmlns:a="http://schemas.openxmlformats.org/drawingml/2006/main" noGrp="1"/>
          </p:cNvSpPr>
          <p:nvPr/>
        </p:nvSpPr>
        <p:spPr>
          <a:xfrm xmlns:a="http://schemas.openxmlformats.org/drawingml/2006/main">
            <a:off x="781050" y="56388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5707D"/>
                </a:solidFill>
                <a:latin typeface="Arial"/>
                <a:ea typeface="Arial"/>
                <a:cs typeface="Arial"/>
              </a:defRPr>
            </a:pPr>
            <a:r>
              <a:rPr sz="1350" b="0">
                <a:solidFill>
                  <a:srgbClr val="55707D"/>
                </a:solidFill>
                <a:latin typeface="Arial"/>
                <a:ea typeface="Arial"/>
                <a:cs typeface="Arial"/>
              </a:rPr>
              <a:t>This gap suggests overfitting. Survey intention may differ from actual redemption.</a:t>
            </a:r>
          </a:p>
        </p:txBody>
      </p:sp>
    </p:spTree>
    <p:extLst>
      <p:ext uri="{BB962C8B-B14F-4D97-AF65-F5344CB8AC3E}">
        <p14:creationId xmlns:p14="http://schemas.microsoft.com/office/powerpoint/2010/main" val="7798792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8361E0-A8BA-4742-BDE3-43A84378112E}"/>
              </a:ext>
            </a:extLst>
          </p:cNvPr>
          <p:cNvSpPr>
            <a:spLocks xmlns:a="http://schemas.openxmlformats.org/drawingml/2006/main" noGrp="1"/>
          </p:cNvSpPr>
          <p:nvPr/>
        </p:nvSpPr>
        <p:spPr>
          <a:xfrm xmlns:a="http://schemas.openxmlformats.org/drawingml/2006/main">
            <a:off x="666750" y="4572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A3B"/>
                </a:solidFill>
                <a:latin typeface="Arial"/>
                <a:ea typeface="Arial"/>
                <a:cs typeface="Arial"/>
              </a:defRPr>
            </a:pPr>
            <a:r>
              <a:rPr sz="3225" b="1">
                <a:solidFill>
                  <a:srgbClr val="142A3B"/>
                </a:solidFill>
                <a:latin typeface="Arial"/>
                <a:ea typeface="Arial"/>
                <a:cs typeface="Arial"/>
              </a:rPr>
              <a:t>Conclusion and references</a:t>
            </a:r>
          </a:p>
        </p:txBody>
      </p:sp>
      <p:sp>
        <p:nvSpPr>
          <p:cNvPr id="2" name="">
            <a:extLst xmlns:a="http://schemas.openxmlformats.org/drawingml/2006/main">
              <a:ext uri="{FF2B5EF4-FFF2-40B4-BE49-F238E27FC236}">
                <a16:creationId xmlns:a16="http://schemas.microsoft.com/office/drawing/2014/main" id="{C9E41B3C-2D2B-4AE9-BAFA-8D9C9071F1F1}"/>
              </a:ext>
            </a:extLst>
          </p:cNvPr>
          <p:cNvSpPr>
            <a:spLocks xmlns:a="http://schemas.openxmlformats.org/drawingml/2006/main" noGrp="1"/>
          </p:cNvSpPr>
          <p:nvPr/>
        </p:nvSpPr>
        <p:spPr>
          <a:xfrm xmlns:a="http://schemas.openxmlformats.org/drawingml/2006/main">
            <a:off x="10525125" y="63817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5707D"/>
                </a:solidFill>
                <a:latin typeface="Arial"/>
                <a:ea typeface="Arial"/>
                <a:cs typeface="Arial"/>
              </a:defRPr>
            </a:pPr>
            <a:r>
              <a:rPr sz="1125" b="0">
                <a:solidFill>
                  <a:srgbClr val="55707D"/>
                </a:solidFill>
                <a:latin typeface="Arial"/>
                <a:ea typeface="Arial"/>
                <a:cs typeface="Arial"/>
              </a:rPr>
              <a:t>12 / 12</a:t>
            </a:r>
          </a:p>
        </p:txBody>
      </p:sp>
      <p:sp>
        <p:nvSpPr>
          <p:cNvPr id="3" name="">
            <a:extLst xmlns:a="http://schemas.openxmlformats.org/drawingml/2006/main">
              <a:ext uri="{FF2B5EF4-FFF2-40B4-BE49-F238E27FC236}">
                <a16:creationId xmlns:a16="http://schemas.microsoft.com/office/drawing/2014/main" id="{96640642-CC04-4728-8453-A10F76B7A2F6}"/>
              </a:ext>
            </a:extLst>
          </p:cNvPr>
          <p:cNvSpPr>
            <a:spLocks xmlns:a="http://schemas.openxmlformats.org/drawingml/2006/main" noGrp="1"/>
          </p:cNvSpPr>
          <p:nvPr/>
        </p:nvSpPr>
        <p:spPr>
          <a:xfrm xmlns:a="http://schemas.openxmlformats.org/drawingml/2006/main">
            <a:off x="781050" y="16097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007B79"/>
                </a:solidFill>
                <a:latin typeface="Arial"/>
                <a:ea typeface="Arial"/>
                <a:cs typeface="Arial"/>
              </a:defRPr>
            </a:pPr>
            <a:r>
              <a:rPr sz="2775" b="1">
                <a:solidFill>
                  <a:srgbClr val="007B79"/>
                </a:solidFill>
                <a:latin typeface="Arial"/>
                <a:ea typeface="Arial"/>
                <a:cs typeface="Arial"/>
              </a:rPr>
              <a:t>The model predicts stated coupon acceptance.</a:t>
            </a:r>
          </a:p>
        </p:txBody>
      </p:sp>
      <p:sp>
        <p:nvSpPr>
          <p:cNvPr id="4" name="">
            <a:extLst xmlns:a="http://schemas.openxmlformats.org/drawingml/2006/main">
              <a:ext uri="{FF2B5EF4-FFF2-40B4-BE49-F238E27FC236}">
                <a16:creationId xmlns:a16="http://schemas.microsoft.com/office/drawing/2014/main" id="{5BD9C612-DE8C-4007-BA25-5582F719AA74}"/>
              </a:ext>
            </a:extLst>
          </p:cNvPr>
          <p:cNvSpPr>
            <a:spLocks xmlns:a="http://schemas.openxmlformats.org/drawingml/2006/main" noGrp="1"/>
          </p:cNvSpPr>
          <p:nvPr/>
        </p:nvSpPr>
        <p:spPr>
          <a:xfrm xmlns:a="http://schemas.openxmlformats.org/drawingml/2006/main">
            <a:off x="781050" y="3143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2A3B"/>
                </a:solidFill>
                <a:latin typeface="Arial"/>
                <a:ea typeface="Arial"/>
                <a:cs typeface="Arial"/>
              </a:defRPr>
            </a:pPr>
            <a:r>
              <a:rPr sz="1800" b="1">
                <a:solidFill>
                  <a:srgbClr val="142A3B"/>
                </a:solidFill>
                <a:latin typeface="Arial"/>
                <a:ea typeface="Arial"/>
                <a:cs typeface="Arial"/>
              </a:rPr>
              <a:t>UCI In-Vehicle Coupon Recommendation</a:t>
            </a:r>
          </a:p>
        </p:txBody>
      </p:sp>
      <p:sp>
        <p:nvSpPr>
          <p:cNvPr id="5" name="">
            <a:extLst xmlns:a="http://schemas.openxmlformats.org/drawingml/2006/main">
              <a:ext uri="{FF2B5EF4-FFF2-40B4-BE49-F238E27FC236}">
                <a16:creationId xmlns:a16="http://schemas.microsoft.com/office/drawing/2014/main" id="{281AC57E-E351-4097-A0A3-E886830CDE88}"/>
              </a:ext>
            </a:extLst>
          </p:cNvPr>
          <p:cNvSpPr>
            <a:spLocks xmlns:a="http://schemas.openxmlformats.org/drawingml/2006/main" noGrp="1"/>
          </p:cNvSpPr>
          <p:nvPr/>
        </p:nvSpPr>
        <p:spPr>
          <a:xfrm xmlns:a="http://schemas.openxmlformats.org/drawingml/2006/main">
            <a:off x="781050" y="35433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5707D"/>
                </a:solidFill>
                <a:latin typeface="Arial"/>
                <a:ea typeface="Arial"/>
                <a:cs typeface="Arial"/>
              </a:defRPr>
            </a:pPr>
            <a:r>
              <a:rPr sz="1425" b="0">
                <a:solidFill>
                  <a:srgbClr val="55707D"/>
                </a:solidFill>
                <a:latin typeface="Arial"/>
                <a:ea typeface="Arial"/>
                <a:cs typeface="Arial"/>
              </a:rPr>
              <a:t>DOI 10.24432/C5GS4P</a:t>
            </a:r>
          </a:p>
        </p:txBody>
      </p:sp>
      <p:sp>
        <p:nvSpPr>
          <p:cNvPr id="6" name="">
            <a:extLst xmlns:a="http://schemas.openxmlformats.org/drawingml/2006/main">
              <a:ext uri="{FF2B5EF4-FFF2-40B4-BE49-F238E27FC236}">
                <a16:creationId xmlns:a16="http://schemas.microsoft.com/office/drawing/2014/main" id="{7C0ED38C-B960-454A-B139-D3E619E8EF35}"/>
              </a:ext>
            </a:extLst>
          </p:cNvPr>
          <p:cNvSpPr>
            <a:spLocks xmlns:a="http://schemas.openxmlformats.org/drawingml/2006/main" noGrp="1"/>
          </p:cNvSpPr>
          <p:nvPr/>
        </p:nvSpPr>
        <p:spPr>
          <a:xfrm xmlns:a="http://schemas.openxmlformats.org/drawingml/2006/main">
            <a:off x="781050" y="42576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42A3B"/>
                </a:solidFill>
                <a:latin typeface="Arial"/>
                <a:ea typeface="Arial"/>
                <a:cs typeface="Arial"/>
              </a:defRPr>
            </a:pPr>
            <a:r>
              <a:rPr sz="1650" b="0">
                <a:solidFill>
                  <a:srgbClr val="142A3B"/>
                </a:solidFill>
                <a:latin typeface="Arial"/>
                <a:ea typeface="Arial"/>
                <a:cs typeface="Arial"/>
              </a:rPr>
              <a:t>Wang et al. (2017), Journal of Machine Learning Research</a:t>
            </a:r>
          </a:p>
        </p:txBody>
      </p:sp>
      <p:sp>
        <p:nvSpPr>
          <p:cNvPr id="7" name="">
            <a:extLst xmlns:a="http://schemas.openxmlformats.org/drawingml/2006/main">
              <a:ext uri="{FF2B5EF4-FFF2-40B4-BE49-F238E27FC236}">
                <a16:creationId xmlns:a16="http://schemas.microsoft.com/office/drawing/2014/main" id="{BAFC9E13-B7E0-428A-8F05-5F09AB11C3C5}"/>
              </a:ext>
            </a:extLst>
          </p:cNvPr>
          <p:cNvSpPr>
            <a:spLocks xmlns:a="http://schemas.openxmlformats.org/drawingml/2006/main" noGrp="1"/>
          </p:cNvSpPr>
          <p:nvPr/>
        </p:nvSpPr>
        <p:spPr>
          <a:xfrm xmlns:a="http://schemas.openxmlformats.org/drawingml/2006/main">
            <a:off x="781050" y="48196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42A3B"/>
                </a:solidFill>
                <a:latin typeface="Arial"/>
                <a:ea typeface="Arial"/>
                <a:cs typeface="Arial"/>
              </a:defRPr>
            </a:pPr>
            <a:r>
              <a:rPr sz="1650" b="0">
                <a:solidFill>
                  <a:srgbClr val="142A3B"/>
                </a:solidFill>
                <a:latin typeface="Arial"/>
                <a:ea typeface="Arial"/>
                <a:cs typeface="Arial"/>
              </a:rPr>
              <a:t>Fayyad et al. (1996), AI Magazine</a:t>
            </a:r>
          </a:p>
        </p:txBody>
      </p:sp>
    </p:spTree>
    <p:extLst>
      <p:ext uri="{BB962C8B-B14F-4D97-AF65-F5344CB8AC3E}">
        <p14:creationId xmlns:p14="http://schemas.microsoft.com/office/powerpoint/2010/main" val="19799348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2026-10-01T08:00:47.4010000Z</dcterms:created>
  <dcterms:modified xsi:type="dcterms:W3CDTF">2026-10-01T08:00:47.4010000Z</dcterms:modified>
</coreProperties>
</file>